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3.jpg" ContentType="image/jpg"/>
  <Override PartName="/ppt/media/image4.jpg" ContentType="image/jpg"/>
  <Override PartName="/ppt/media/image7.jpg" ContentType="image/jpg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</p:sldIdLst>
  <p:sldSz cx="7556500" cy="10699750"/>
  <p:notesSz cx="7556500" cy="106997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>
      <p:cViewPr varScale="1">
        <p:scale>
          <a:sx n="77" d="100"/>
          <a:sy n="77" d="100"/>
        </p:scale>
        <p:origin x="3568" y="20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67213" y="3316922"/>
            <a:ext cx="6428422" cy="224694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134427" y="5991860"/>
            <a:ext cx="5293995" cy="26749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2/15/26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2/15/26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378142" y="2460942"/>
            <a:ext cx="3289839" cy="70618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3894867" y="2460942"/>
            <a:ext cx="3289839" cy="70618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2/15/26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2/15/26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2/15/26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8142" y="427990"/>
            <a:ext cx="6806565" cy="17119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8142" y="2460942"/>
            <a:ext cx="6806565" cy="70618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71369" y="9950768"/>
            <a:ext cx="2420112" cy="5349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8142" y="9950768"/>
            <a:ext cx="1739455" cy="5349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2/15/26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45252" y="9950768"/>
            <a:ext cx="1739455" cy="5349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jpg"/><Relationship Id="rId5" Type="http://schemas.openxmlformats.org/officeDocument/2006/relationships/image" Target="../media/image4.jp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9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7.jpg"/><Relationship Id="rId5" Type="http://schemas.openxmlformats.org/officeDocument/2006/relationships/image" Target="../media/image4.jpg"/><Relationship Id="rId6" Type="http://schemas.openxmlformats.org/officeDocument/2006/relationships/image" Target="../media/image5.png"/><Relationship Id="rId7" Type="http://schemas.openxmlformats.org/officeDocument/2006/relationships/image" Target="../media/image8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7.jpg"/><Relationship Id="rId3" Type="http://schemas.openxmlformats.org/officeDocument/2006/relationships/image" Target="../media/image4.jpg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82807" y="2715863"/>
            <a:ext cx="6620509" cy="0"/>
          </a:xfrm>
          <a:custGeom>
            <a:avLst/>
            <a:gdLst/>
            <a:ahLst/>
            <a:cxnLst/>
            <a:rect l="l" t="t" r="r" b="b"/>
            <a:pathLst>
              <a:path w="6620509">
                <a:moveTo>
                  <a:pt x="0" y="0"/>
                </a:moveTo>
                <a:lnTo>
                  <a:pt x="6619897" y="0"/>
                </a:lnTo>
              </a:path>
            </a:pathLst>
          </a:custGeom>
          <a:ln w="9528">
            <a:solidFill>
              <a:srgbClr val="0A162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482807" y="4104008"/>
            <a:ext cx="6620509" cy="0"/>
          </a:xfrm>
          <a:custGeom>
            <a:avLst/>
            <a:gdLst/>
            <a:ahLst/>
            <a:cxnLst/>
            <a:rect l="l" t="t" r="r" b="b"/>
            <a:pathLst>
              <a:path w="6620509">
                <a:moveTo>
                  <a:pt x="0" y="0"/>
                </a:moveTo>
                <a:lnTo>
                  <a:pt x="6619897" y="0"/>
                </a:lnTo>
              </a:path>
            </a:pathLst>
          </a:custGeom>
          <a:ln w="9528">
            <a:solidFill>
              <a:srgbClr val="0A162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82807" y="6608412"/>
            <a:ext cx="6620509" cy="0"/>
          </a:xfrm>
          <a:custGeom>
            <a:avLst/>
            <a:gdLst/>
            <a:ahLst/>
            <a:cxnLst/>
            <a:rect l="l" t="t" r="r" b="b"/>
            <a:pathLst>
              <a:path w="6620509">
                <a:moveTo>
                  <a:pt x="0" y="0"/>
                </a:moveTo>
                <a:lnTo>
                  <a:pt x="6619897" y="0"/>
                </a:lnTo>
              </a:path>
            </a:pathLst>
          </a:custGeom>
          <a:ln w="9528">
            <a:solidFill>
              <a:srgbClr val="0A162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93200" y="2488461"/>
            <a:ext cx="162581" cy="100461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93200" y="3888359"/>
            <a:ext cx="162581" cy="100461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893200" y="6392762"/>
            <a:ext cx="162581" cy="100461"/>
          </a:xfrm>
          <a:prstGeom prst="rect">
            <a:avLst/>
          </a:prstGeom>
        </p:spPr>
      </p:pic>
      <p:grpSp>
        <p:nvGrpSpPr>
          <p:cNvPr id="8" name="object 8"/>
          <p:cNvGrpSpPr/>
          <p:nvPr/>
        </p:nvGrpSpPr>
        <p:grpSpPr>
          <a:xfrm>
            <a:off x="0" y="0"/>
            <a:ext cx="7562850" cy="2240915"/>
            <a:chOff x="0" y="0"/>
            <a:chExt cx="7562850" cy="2240915"/>
          </a:xfrm>
        </p:grpSpPr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0"/>
              <a:ext cx="7562850" cy="2240785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478043" y="408837"/>
              <a:ext cx="2061845" cy="1570990"/>
            </a:xfrm>
            <a:custGeom>
              <a:avLst/>
              <a:gdLst/>
              <a:ahLst/>
              <a:cxnLst/>
              <a:rect l="l" t="t" r="r" b="b"/>
              <a:pathLst>
                <a:path w="2061845" h="1570989">
                  <a:moveTo>
                    <a:pt x="1937859" y="1570966"/>
                  </a:moveTo>
                  <a:lnTo>
                    <a:pt x="123871" y="1570966"/>
                  </a:lnTo>
                  <a:lnTo>
                    <a:pt x="99592" y="1568564"/>
                  </a:lnTo>
                  <a:lnTo>
                    <a:pt x="55147" y="1550155"/>
                  </a:lnTo>
                  <a:lnTo>
                    <a:pt x="20811" y="1515819"/>
                  </a:lnTo>
                  <a:lnTo>
                    <a:pt x="2402" y="1471374"/>
                  </a:lnTo>
                  <a:lnTo>
                    <a:pt x="0" y="1447095"/>
                  </a:lnTo>
                  <a:lnTo>
                    <a:pt x="0" y="123871"/>
                  </a:lnTo>
                  <a:lnTo>
                    <a:pt x="9429" y="76468"/>
                  </a:lnTo>
                  <a:lnTo>
                    <a:pt x="36281" y="36281"/>
                  </a:lnTo>
                  <a:lnTo>
                    <a:pt x="76468" y="9429"/>
                  </a:lnTo>
                  <a:lnTo>
                    <a:pt x="123871" y="0"/>
                  </a:lnTo>
                  <a:lnTo>
                    <a:pt x="1937859" y="0"/>
                  </a:lnTo>
                  <a:lnTo>
                    <a:pt x="1985263" y="9429"/>
                  </a:lnTo>
                  <a:lnTo>
                    <a:pt x="2025450" y="36281"/>
                  </a:lnTo>
                  <a:lnTo>
                    <a:pt x="2052302" y="76468"/>
                  </a:lnTo>
                  <a:lnTo>
                    <a:pt x="2061731" y="123871"/>
                  </a:lnTo>
                  <a:lnTo>
                    <a:pt x="2061731" y="1447095"/>
                  </a:lnTo>
                  <a:lnTo>
                    <a:pt x="2052302" y="1494498"/>
                  </a:lnTo>
                  <a:lnTo>
                    <a:pt x="2025450" y="1534685"/>
                  </a:lnTo>
                  <a:lnTo>
                    <a:pt x="1985263" y="1561537"/>
                  </a:lnTo>
                  <a:lnTo>
                    <a:pt x="1937859" y="1570966"/>
                  </a:lnTo>
                  <a:close/>
                </a:path>
              </a:pathLst>
            </a:custGeom>
            <a:solidFill>
              <a:srgbClr val="FFFFFF">
                <a:alpha val="86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1" name="object 11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0" y="10588112"/>
            <a:ext cx="7562850" cy="108462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6217266" y="9410240"/>
            <a:ext cx="838515" cy="343029"/>
          </a:xfrm>
          <a:prstGeom prst="rect">
            <a:avLst/>
          </a:prstGeom>
        </p:spPr>
      </p:pic>
      <p:sp>
        <p:nvSpPr>
          <p:cNvPr id="14" name="object 14"/>
          <p:cNvSpPr/>
          <p:nvPr/>
        </p:nvSpPr>
        <p:spPr>
          <a:xfrm>
            <a:off x="2488987" y="7575071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5" h="38734">
                <a:moveTo>
                  <a:pt x="21584" y="38114"/>
                </a:moveTo>
                <a:lnTo>
                  <a:pt x="16530" y="38114"/>
                </a:lnTo>
                <a:lnTo>
                  <a:pt x="14099" y="37630"/>
                </a:lnTo>
                <a:lnTo>
                  <a:pt x="0" y="21584"/>
                </a:lnTo>
                <a:lnTo>
                  <a:pt x="0" y="16530"/>
                </a:lnTo>
                <a:lnTo>
                  <a:pt x="16530" y="0"/>
                </a:lnTo>
                <a:lnTo>
                  <a:pt x="21584" y="0"/>
                </a:lnTo>
                <a:lnTo>
                  <a:pt x="38114" y="19057"/>
                </a:lnTo>
                <a:lnTo>
                  <a:pt x="38114" y="21584"/>
                </a:lnTo>
                <a:lnTo>
                  <a:pt x="21584" y="3811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2488987" y="7937158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5" h="38734">
                <a:moveTo>
                  <a:pt x="21584" y="38114"/>
                </a:moveTo>
                <a:lnTo>
                  <a:pt x="16530" y="38114"/>
                </a:lnTo>
                <a:lnTo>
                  <a:pt x="14099" y="37630"/>
                </a:lnTo>
                <a:lnTo>
                  <a:pt x="0" y="21584"/>
                </a:lnTo>
                <a:lnTo>
                  <a:pt x="0" y="16529"/>
                </a:lnTo>
                <a:lnTo>
                  <a:pt x="16530" y="0"/>
                </a:lnTo>
                <a:lnTo>
                  <a:pt x="21584" y="0"/>
                </a:lnTo>
                <a:lnTo>
                  <a:pt x="38114" y="19057"/>
                </a:lnTo>
                <a:lnTo>
                  <a:pt x="38114" y="21584"/>
                </a:lnTo>
                <a:lnTo>
                  <a:pt x="21584" y="3811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2488987" y="8118201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5" h="38734">
                <a:moveTo>
                  <a:pt x="21584" y="38114"/>
                </a:moveTo>
                <a:lnTo>
                  <a:pt x="16530" y="38114"/>
                </a:lnTo>
                <a:lnTo>
                  <a:pt x="14099" y="37630"/>
                </a:lnTo>
                <a:lnTo>
                  <a:pt x="0" y="21584"/>
                </a:lnTo>
                <a:lnTo>
                  <a:pt x="0" y="16529"/>
                </a:lnTo>
                <a:lnTo>
                  <a:pt x="16530" y="0"/>
                </a:lnTo>
                <a:lnTo>
                  <a:pt x="21584" y="0"/>
                </a:lnTo>
                <a:lnTo>
                  <a:pt x="38114" y="19057"/>
                </a:lnTo>
                <a:lnTo>
                  <a:pt x="38114" y="21584"/>
                </a:lnTo>
                <a:lnTo>
                  <a:pt x="21584" y="3811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2428644" y="7280325"/>
            <a:ext cx="4686935" cy="1111885"/>
          </a:xfrm>
          <a:prstGeom prst="rect">
            <a:avLst/>
          </a:prstGeom>
        </p:spPr>
        <p:txBody>
          <a:bodyPr vert="horz" wrap="square" lIns="0" tIns="565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45"/>
              </a:spcBef>
            </a:pPr>
            <a:r>
              <a:rPr sz="900">
                <a:solidFill>
                  <a:srgbClr val="212121"/>
                </a:solidFill>
                <a:latin typeface="Tahoma"/>
              </a:rPr>
              <a:t>A estratégia apostou em três pilares:</a:t>
            </a:r>
            <a:endParaRPr sz="9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445"/>
              </a:spcBef>
            </a:pPr>
            <a:r>
              <a:rPr sz="900">
                <a:solidFill>
                  <a:srgbClr val="212121"/>
                </a:solidFill>
                <a:latin typeface="Tahoma"/>
              </a:rPr>
              <a:t>Transferência segura de 367 TB via AWS DataSync</a:t>
            </a:r>
          </a:p>
          <a:p>
            <a:pPr>
              <a:lnSpc>
                <a:spcPct val="100000"/>
              </a:lnSpc>
              <a:spcBef>
                <a:spcPts val="445"/>
              </a:spcBef>
            </a:pPr>
            <a:r>
              <a:rPr sz="900">
                <a:solidFill>
                  <a:srgbClr val="212121"/>
                </a:solidFill>
                <a:latin typeface="Tahoma"/>
              </a:rPr>
              <a:t>Amazon S3 como repositório central organizado por tipo de dado</a:t>
            </a:r>
          </a:p>
          <a:p>
            <a:pPr>
              <a:lnSpc>
                <a:spcPct val="100000"/>
              </a:lnSpc>
              <a:spcBef>
                <a:spcPts val="445"/>
              </a:spcBef>
            </a:pPr>
            <a:r>
              <a:rPr sz="900">
                <a:solidFill>
                  <a:srgbClr val="212121"/>
                </a:solidFill>
                <a:latin typeface="Tahoma"/>
              </a:rPr>
              <a:t>Avaliação comparativa entre EC2 e AWS HealthOmics para processamento</a:t>
            </a:r>
          </a:p>
        </p:txBody>
      </p:sp>
      <p:sp>
        <p:nvSpPr>
          <p:cNvPr id="18" name="object 18"/>
          <p:cNvSpPr/>
          <p:nvPr/>
        </p:nvSpPr>
        <p:spPr>
          <a:xfrm>
            <a:off x="0" y="7321610"/>
            <a:ext cx="2266950" cy="1940560"/>
          </a:xfrm>
          <a:custGeom>
            <a:avLst/>
            <a:gdLst/>
            <a:ahLst/>
            <a:cxnLst/>
            <a:rect l="l" t="t" r="r" b="b"/>
            <a:pathLst>
              <a:path w="2266950" h="1940559">
                <a:moveTo>
                  <a:pt x="2133332" y="1939994"/>
                </a:moveTo>
                <a:lnTo>
                  <a:pt x="0" y="1939994"/>
                </a:lnTo>
                <a:lnTo>
                  <a:pt x="0" y="0"/>
                </a:lnTo>
                <a:lnTo>
                  <a:pt x="2133332" y="0"/>
                </a:lnTo>
                <a:lnTo>
                  <a:pt x="2159479" y="2586"/>
                </a:lnTo>
                <a:lnTo>
                  <a:pt x="2207343" y="22412"/>
                </a:lnTo>
                <a:lnTo>
                  <a:pt x="2244320" y="59389"/>
                </a:lnTo>
                <a:lnTo>
                  <a:pt x="2264146" y="107253"/>
                </a:lnTo>
                <a:lnTo>
                  <a:pt x="2266747" y="133400"/>
                </a:lnTo>
                <a:lnTo>
                  <a:pt x="2266747" y="1806594"/>
                </a:lnTo>
                <a:lnTo>
                  <a:pt x="2256578" y="1857644"/>
                </a:lnTo>
                <a:lnTo>
                  <a:pt x="2227661" y="1900922"/>
                </a:lnTo>
                <a:lnTo>
                  <a:pt x="2184382" y="1929840"/>
                </a:lnTo>
                <a:lnTo>
                  <a:pt x="2133332" y="1939994"/>
                </a:lnTo>
                <a:close/>
              </a:path>
            </a:pathLst>
          </a:custGeom>
          <a:solidFill>
            <a:srgbClr val="3793A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465343" y="4202300"/>
            <a:ext cx="6650355" cy="1836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32000"/>
              </a:lnSpc>
              <a:spcBef>
                <a:spcPts val="100"/>
              </a:spcBef>
            </a:pPr>
            <a:r>
              <a:rPr sz="900">
                <a:solidFill>
                  <a:srgbClr val="212121"/>
                </a:solidFill>
                <a:latin typeface="Tahoma"/>
              </a:rPr>
              <a:t>Hospitais e centros de pesquisa precisam armazenar e processar volumes massivos de dados sensíveis, mantendo governança e conformidade regulatória. Os principais gargalos incluíam armazenamento seguro de grandes volumes, custo e lentidão de ambientes on-premises.</a:t>
            </a:r>
            <a:endParaRPr sz="900" dirty="0">
              <a:latin typeface="Tahoma"/>
              <a:cs typeface="Tahoma"/>
            </a:endParaRPr>
          </a:p>
          <a:p>
            <a:pPr algn="just">
              <a:lnSpc>
                <a:spcPct val="132000"/>
              </a:lnSpc>
              <a:spcBef>
                <a:spcPts val="100"/>
              </a:spcBef>
            </a:pPr>
            <a:r>
              <a:rPr sz="900">
                <a:solidFill>
                  <a:srgbClr val="212121"/>
                </a:solidFill>
                <a:latin typeface="Tahoma"/>
              </a:rPr>
              <a:t/>
            </a:r>
          </a:p>
          <a:p>
            <a:pPr algn="just">
              <a:lnSpc>
                <a:spcPct val="132000"/>
              </a:lnSpc>
              <a:spcBef>
                <a:spcPts val="100"/>
              </a:spcBef>
            </a:pPr>
            <a:r>
              <a:rPr sz="900">
                <a:solidFill>
                  <a:srgbClr val="212121"/>
                </a:solidFill>
                <a:latin typeface="Tahoma"/>
              </a:rPr>
              <a:t>A complexidade de governança (incluindo LGPD) e a dificuldade de escalabilidade para acompanhar a evolução das pesquisas tornavam a modernização urgente.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465343" y="6706703"/>
            <a:ext cx="6650355" cy="568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32000"/>
              </a:lnSpc>
              <a:spcBef>
                <a:spcPts val="100"/>
              </a:spcBef>
            </a:pPr>
            <a:r>
              <a:rPr sz="900">
                <a:solidFill>
                  <a:srgbClr val="212121"/>
                </a:solidFill>
                <a:latin typeface="Tahoma"/>
              </a:rPr>
              <a:t>Com o desafio de modernizar o ambiente de dados genômicos do maior complexo hospitalar da América Latina, a proposta era clara: criar uma base escalável e segura para pesquisa genômica e medicina personalizada.</a:t>
            </a:r>
            <a:endParaRPr sz="900">
              <a:latin typeface="Tahoma"/>
              <a:cs typeface="Tahom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465343" y="2784155"/>
            <a:ext cx="6650355" cy="7499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32000"/>
              </a:lnSpc>
              <a:spcBef>
                <a:spcPts val="100"/>
              </a:spcBef>
            </a:pPr>
            <a:r>
              <a:rPr sz="900">
                <a:solidFill>
                  <a:srgbClr val="212121"/>
                </a:solidFill>
                <a:latin typeface="Tahoma"/>
              </a:rPr>
              <a:t>O Hospital das Clínicas da Faculdade de Medicina da USP (HCFMUSP), inaugurado em 1944, é um complexo hospitalar de referência vinculado à Secretaria de Estado da Saúde e à FMUSP. No contexto das pesquisas genômicas, a UNIFESP conduziu projetos com apoio do HCFMUSP, aproximando descobertas científicas da prática clínica.</a:t>
            </a:r>
            <a:endParaRPr sz="900" dirty="0">
              <a:latin typeface="Tahoma"/>
              <a:cs typeface="Tahom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465343" y="2394321"/>
            <a:ext cx="6061075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sz="1600">
                <a:solidFill>
                  <a:srgbClr val="212121"/>
                </a:solidFill>
                <a:latin typeface="Tahoma"/>
              </a:rPr>
              <a:t>COMO O HC TRANSFORMOU SUA PESQUISA GENÔMICA</a:t>
            </a:r>
            <a:endParaRPr sz="1600" dirty="0">
              <a:latin typeface="Tahoma"/>
              <a:cs typeface="Tahoma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465343" y="3805970"/>
            <a:ext cx="5826760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sz="1600">
                <a:solidFill>
                  <a:srgbClr val="212121"/>
                </a:solidFill>
                <a:latin typeface="Tahoma"/>
              </a:rPr>
              <a:t>QUANDO OS DADOS GENÔMICOS EXIGEM ESCALA</a:t>
            </a:r>
            <a:endParaRPr sz="1600">
              <a:latin typeface="Tahoma"/>
              <a:cs typeface="Tahoma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465343" y="6314789"/>
            <a:ext cx="6163310" cy="254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sz="1500">
                <a:solidFill>
                  <a:srgbClr val="212121"/>
                </a:solidFill>
                <a:latin typeface="Tahoma"/>
              </a:rPr>
              <a:t>PARCERIA DATARAIN: GENÔMICA NA NUVEM</a:t>
            </a:r>
            <a:endParaRPr sz="1500">
              <a:latin typeface="Tahoma"/>
              <a:cs typeface="Tahoma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3126090" y="507597"/>
            <a:ext cx="3955415" cy="1351915"/>
          </a:xfrm>
          <a:prstGeom prst="rect">
            <a:avLst/>
          </a:prstGeom>
        </p:spPr>
        <p:txBody>
          <a:bodyPr vert="horz" wrap="square" lIns="0" tIns="27305" rIns="0" bIns="0" rtlCol="0">
            <a:spAutoFit/>
          </a:bodyPr>
          <a:lstStyle/>
          <a:p>
            <a:pPr marL="12700" marR="5080">
              <a:lnSpc>
                <a:spcPts val="2600"/>
              </a:lnSpc>
              <a:spcBef>
                <a:spcPts val="215"/>
              </a:spcBef>
            </a:pPr>
            <a:r>
              <a:rPr b="1" sz="2200">
                <a:solidFill>
                  <a:srgbClr val="FFFFFF"/>
                </a:solidFill>
                <a:latin typeface="Tahoma"/>
              </a:rPr>
              <a:t>HCFMUSP migra 367 TB de dados genômicos para a AWS com apoio da dataRain.</a:t>
            </a:r>
            <a:endParaRPr sz="2200" dirty="0">
              <a:latin typeface="Tahoma"/>
              <a:cs typeface="Tahoma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440648" y="7391810"/>
            <a:ext cx="755650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b="1" spc="70" dirty="0">
                <a:solidFill>
                  <a:srgbClr val="FFFFFF"/>
                </a:solidFill>
                <a:latin typeface="Trebuchet MS"/>
                <a:cs typeface="Trebuchet MS"/>
              </a:rPr>
              <a:t>Você</a:t>
            </a:r>
            <a:r>
              <a:rPr sz="900" b="1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900" b="1" spc="85" dirty="0">
                <a:solidFill>
                  <a:srgbClr val="FFFFFF"/>
                </a:solidFill>
                <a:latin typeface="Trebuchet MS"/>
                <a:cs typeface="Trebuchet MS"/>
              </a:rPr>
              <a:t>sabia?</a:t>
            </a:r>
            <a:endParaRPr sz="900">
              <a:latin typeface="Trebuchet MS"/>
              <a:cs typeface="Trebuchet MS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440648" y="7677667"/>
            <a:ext cx="1734185" cy="1449070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5080">
              <a:lnSpc>
                <a:spcPct val="104200"/>
              </a:lnSpc>
              <a:spcBef>
                <a:spcPts val="55"/>
              </a:spcBef>
            </a:pPr>
            <a:r>
              <a:rPr sz="900">
                <a:solidFill>
                  <a:srgbClr val="FFFFFF"/>
                </a:solidFill>
                <a:latin typeface="Trebuchet MS"/>
              </a:rPr>
              <a:t>O projeto envolveu a migração de 367 TB de dados genômicos, incluindo dados previamente armazenados em Glacier. A infraestrutura na AWS permite ingestão contínua de novos dados e processamento de pipelines genômicos diretamente na nuvem.</a:t>
            </a:r>
            <a:endParaRPr sz="900">
              <a:latin typeface="Trebuchet MS"/>
              <a:cs typeface="Trebuchet MS"/>
            </a:endParaRPr>
          </a:p>
        </p:txBody>
      </p:sp>
      <p:pic>
        <p:nvPicPr>
          <p:cNvPr id="28" name="Picture 27" descr="logo-hc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6016" y="825098"/>
            <a:ext cx="1705617" cy="73370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27123" y="1068750"/>
            <a:ext cx="6624320" cy="0"/>
          </a:xfrm>
          <a:custGeom>
            <a:avLst/>
            <a:gdLst/>
            <a:ahLst/>
            <a:cxnLst/>
            <a:rect l="l" t="t" r="r" b="b"/>
            <a:pathLst>
              <a:path w="6624320">
                <a:moveTo>
                  <a:pt x="0" y="0"/>
                </a:moveTo>
                <a:lnTo>
                  <a:pt x="6623913" y="0"/>
                </a:lnTo>
              </a:path>
            </a:pathLst>
          </a:custGeom>
          <a:ln w="9528">
            <a:solidFill>
              <a:srgbClr val="0A162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427123" y="7270453"/>
            <a:ext cx="6624320" cy="0"/>
          </a:xfrm>
          <a:custGeom>
            <a:avLst/>
            <a:gdLst/>
            <a:ahLst/>
            <a:cxnLst/>
            <a:rect l="l" t="t" r="r" b="b"/>
            <a:pathLst>
              <a:path w="6624320">
                <a:moveTo>
                  <a:pt x="0" y="0"/>
                </a:moveTo>
                <a:lnTo>
                  <a:pt x="6623913" y="0"/>
                </a:lnTo>
              </a:path>
            </a:pathLst>
          </a:custGeom>
          <a:ln w="9528">
            <a:solidFill>
              <a:srgbClr val="0A162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93200" y="858129"/>
            <a:ext cx="162581" cy="100461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893200" y="7059832"/>
            <a:ext cx="162581" cy="100461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0" y="0"/>
            <a:ext cx="7562850" cy="401746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0" y="10588112"/>
            <a:ext cx="7562850" cy="108462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6221355" y="10062335"/>
            <a:ext cx="838515" cy="343029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422359" y="3130004"/>
            <a:ext cx="6631898" cy="3683511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409662" y="1100411"/>
            <a:ext cx="6654165" cy="18268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31300"/>
              </a:lnSpc>
              <a:spcBef>
                <a:spcPts val="100"/>
              </a:spcBef>
            </a:pPr>
            <a:r>
              <a:rPr sz="1000">
                <a:solidFill>
                  <a:srgbClr val="212121"/>
                </a:solidFill>
                <a:latin typeface="Tahoma"/>
              </a:rPr>
              <a:t>A arquitetura combina Amazon S3 como repositório central organizado por tipo de dado, AWS DataSync para migração inicial e ingestão contínua, Amazon EC2 para executar pipelines genômicos na nuvem.</a:t>
            </a:r>
            <a:endParaRPr sz="1000">
              <a:latin typeface="Tahoma"/>
              <a:cs typeface="Tahoma"/>
            </a:endParaRPr>
          </a:p>
          <a:p>
            <a:pPr algn="just">
              <a:lnSpc>
                <a:spcPct val="131300"/>
              </a:lnSpc>
              <a:spcBef>
                <a:spcPts val="100"/>
              </a:spcBef>
            </a:pPr>
            <a:r>
              <a:rPr sz="1000">
                <a:solidFill>
                  <a:srgbClr val="212121"/>
                </a:solidFill>
                <a:latin typeface="Tahoma"/>
              </a:rPr>
              <a:t/>
            </a:r>
          </a:p>
          <a:p>
            <a:pPr algn="just">
              <a:lnSpc>
                <a:spcPct val="131300"/>
              </a:lnSpc>
              <a:spcBef>
                <a:spcPts val="100"/>
              </a:spcBef>
            </a:pPr>
            <a:r>
              <a:rPr sz="1000">
                <a:solidFill>
                  <a:srgbClr val="212121"/>
                </a:solidFill>
                <a:latin typeface="Tahoma"/>
              </a:rPr>
              <a:t>Monitoramento e alertas de custos garantem controle e visibilidade financeira. A governança estruturada assegura conformidade com LGPD e auditoria contínua.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409662" y="6976840"/>
            <a:ext cx="6654165" cy="2352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sz="1400">
                <a:solidFill>
                  <a:srgbClr val="212121"/>
                </a:solidFill>
                <a:latin typeface="Tahoma"/>
              </a:rPr>
              <a:t>RESULTADOS NA PRÁTICA: BASE MODERNA PARA PESQUISA</a:t>
            </a:r>
            <a:endParaRPr sz="1400">
              <a:latin typeface="Tahoma"/>
              <a:cs typeface="Tahoma"/>
            </a:endParaRPr>
          </a:p>
          <a:p>
            <a:pPr algn="just"/>
            <a:r>
              <a:rPr sz="1000">
                <a:solidFill>
                  <a:srgbClr val="212121"/>
                </a:solidFill>
                <a:latin typeface="Tahoma"/>
              </a:rPr>
              <a:t>Migração precisa e sem perdas de 367 TB, com estabilidade e desempenho do novo ambiente. Dados organizados e prontos para pesquisa em escala, com ingestão contínua.</a:t>
            </a:r>
          </a:p>
          <a:p>
            <a:pPr algn="just"/>
            <a:r>
              <a:rPr sz="1000">
                <a:solidFill>
                  <a:srgbClr val="212121"/>
                </a:solidFill>
                <a:latin typeface="Tahoma"/>
              </a:rPr>
              <a:t/>
            </a:r>
          </a:p>
          <a:p>
            <a:pPr algn="just"/>
            <a:r>
              <a:rPr sz="1000">
                <a:solidFill>
                  <a:srgbClr val="212121"/>
                </a:solidFill>
                <a:latin typeface="Tahoma"/>
              </a:rPr>
              <a:t>Redução de custos operacionais ao otimizar processamento e armazenamento. Escalabilidade e agilidade para expandir pipelines e acelerar análises genômicas.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409662" y="729641"/>
            <a:ext cx="6214110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sz="1600">
                <a:solidFill>
                  <a:srgbClr val="212121"/>
                </a:solidFill>
                <a:latin typeface="Tahoma"/>
              </a:rPr>
              <a:t>GENÔMICA EM ESCALA: DADOS NA NUVEM AWS</a:t>
            </a:r>
            <a:endParaRPr sz="16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7562850" cy="401746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10588112"/>
            <a:ext cx="7562850" cy="108462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427123" y="1022650"/>
            <a:ext cx="6624320" cy="0"/>
          </a:xfrm>
          <a:custGeom>
            <a:avLst/>
            <a:gdLst/>
            <a:ahLst/>
            <a:cxnLst/>
            <a:rect l="l" t="t" r="r" b="b"/>
            <a:pathLst>
              <a:path w="6624320">
                <a:moveTo>
                  <a:pt x="0" y="0"/>
                </a:moveTo>
                <a:lnTo>
                  <a:pt x="6623913" y="0"/>
                </a:lnTo>
              </a:path>
            </a:pathLst>
          </a:custGeom>
          <a:ln w="9528">
            <a:solidFill>
              <a:srgbClr val="0A162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27123" y="3506160"/>
            <a:ext cx="6624320" cy="0"/>
          </a:xfrm>
          <a:custGeom>
            <a:avLst/>
            <a:gdLst/>
            <a:ahLst/>
            <a:cxnLst/>
            <a:rect l="l" t="t" r="r" b="b"/>
            <a:pathLst>
              <a:path w="6624320">
                <a:moveTo>
                  <a:pt x="0" y="0"/>
                </a:moveTo>
                <a:lnTo>
                  <a:pt x="6623913" y="0"/>
                </a:lnTo>
              </a:path>
            </a:pathLst>
          </a:custGeom>
          <a:ln w="9528">
            <a:solidFill>
              <a:srgbClr val="0A162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893200" y="812030"/>
            <a:ext cx="162581" cy="100461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893200" y="3295539"/>
            <a:ext cx="162581" cy="100461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409662" y="3212547"/>
            <a:ext cx="6654165" cy="15513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100"/>
              </a:spcBef>
            </a:pPr>
            <a:r>
              <a:rPr b="1" sz="1400">
                <a:solidFill>
                  <a:srgbClr val="212121"/>
                </a:solidFill>
                <a:latin typeface="Tahoma"/>
              </a:rPr>
              <a:t>MEDICINA PERSONALIZADA DO FUTURO</a:t>
            </a:r>
            <a:endParaRPr sz="1400" dirty="0">
              <a:latin typeface="Tahoma"/>
              <a:cs typeface="Tahoma"/>
            </a:endParaRPr>
          </a:p>
          <a:p>
            <a:pPr algn="just"/>
            <a:r>
              <a:rPr sz="1000">
                <a:solidFill>
                  <a:srgbClr val="212121"/>
                </a:solidFill>
                <a:latin typeface="Tahoma"/>
              </a:rPr>
              <a:t>Os próximos passos incluem benchmarking entre processamento on-premises, EC2 e AWS HealthOmics, preparando o hospital para expandir o uso da nuvem e fortalecer a interoperabilidade de dados.</a:t>
            </a:r>
          </a:p>
          <a:p>
            <a:pPr algn="just"/>
            <a:r>
              <a:rPr sz="1000">
                <a:solidFill>
                  <a:srgbClr val="212121"/>
                </a:solidFill>
                <a:latin typeface="Tahoma"/>
              </a:rPr>
              <a:t/>
            </a:r>
          </a:p>
          <a:p>
            <a:pPr algn="just"/>
            <a:r>
              <a:rPr sz="1000">
                <a:solidFill>
                  <a:srgbClr val="212121"/>
                </a:solidFill>
                <a:latin typeface="Tahoma"/>
              </a:rPr>
              <a:t>Ao unir a capacidade clínica do HCFMUSP, a colaboração acadêmica com a UNIFESP e a expertise da dataRain, o projeto criou condições para transformar dados genômicos em insights aplicáveis.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409662" y="729038"/>
            <a:ext cx="290957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60" dirty="0">
                <a:solidFill>
                  <a:srgbClr val="212121"/>
                </a:solidFill>
                <a:latin typeface="Tahoma"/>
                <a:cs typeface="Tahoma"/>
              </a:rPr>
              <a:t>PARCERIA</a:t>
            </a:r>
            <a:r>
              <a:rPr sz="1400" b="1" spc="-12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400" b="1" spc="-20" dirty="0">
                <a:solidFill>
                  <a:srgbClr val="212121"/>
                </a:solidFill>
                <a:latin typeface="Tahoma"/>
                <a:cs typeface="Tahoma"/>
              </a:rPr>
              <a:t>QUE</a:t>
            </a:r>
            <a:r>
              <a:rPr sz="1400" b="1" spc="-12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400" b="1" dirty="0">
                <a:solidFill>
                  <a:srgbClr val="212121"/>
                </a:solidFill>
                <a:latin typeface="Tahoma"/>
                <a:cs typeface="Tahoma"/>
              </a:rPr>
              <a:t>FAZ</a:t>
            </a:r>
            <a:r>
              <a:rPr sz="1400" b="1" spc="-12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400" b="1" dirty="0">
                <a:solidFill>
                  <a:srgbClr val="212121"/>
                </a:solidFill>
                <a:latin typeface="Tahoma"/>
                <a:cs typeface="Tahoma"/>
              </a:rPr>
              <a:t>A</a:t>
            </a:r>
            <a:r>
              <a:rPr sz="1400" b="1" spc="-12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400" b="1" spc="-10" dirty="0">
                <a:solidFill>
                  <a:srgbClr val="212121"/>
                </a:solidFill>
                <a:latin typeface="Tahoma"/>
                <a:cs typeface="Tahoma"/>
              </a:rPr>
              <a:t>DIFERENÇA</a:t>
            </a:r>
            <a:endParaRPr sz="1400" dirty="0">
              <a:latin typeface="Tahoma"/>
              <a:cs typeface="Tahoma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422359" y="1132072"/>
            <a:ext cx="6632575" cy="1889125"/>
            <a:chOff x="422359" y="1132072"/>
            <a:chExt cx="6632575" cy="1889125"/>
          </a:xfrm>
        </p:grpSpPr>
        <p:sp>
          <p:nvSpPr>
            <p:cNvPr id="11" name="object 11"/>
            <p:cNvSpPr/>
            <p:nvPr/>
          </p:nvSpPr>
          <p:spPr>
            <a:xfrm>
              <a:off x="422359" y="1132229"/>
              <a:ext cx="6631940" cy="1888489"/>
            </a:xfrm>
            <a:custGeom>
              <a:avLst/>
              <a:gdLst/>
              <a:ahLst/>
              <a:cxnLst/>
              <a:rect l="l" t="t" r="r" b="b"/>
              <a:pathLst>
                <a:path w="6631940" h="1888489">
                  <a:moveTo>
                    <a:pt x="6280885" y="1888407"/>
                  </a:moveTo>
                  <a:lnTo>
                    <a:pt x="352557" y="1888407"/>
                  </a:lnTo>
                  <a:lnTo>
                    <a:pt x="306216" y="1885349"/>
                  </a:lnTo>
                  <a:lnTo>
                    <a:pt x="261060" y="1876328"/>
                  </a:lnTo>
                  <a:lnTo>
                    <a:pt x="217639" y="1861570"/>
                  </a:lnTo>
                  <a:lnTo>
                    <a:pt x="176500" y="1841302"/>
                  </a:lnTo>
                  <a:lnTo>
                    <a:pt x="138192" y="1815752"/>
                  </a:lnTo>
                  <a:lnTo>
                    <a:pt x="103261" y="1785145"/>
                  </a:lnTo>
                  <a:lnTo>
                    <a:pt x="72655" y="1750215"/>
                  </a:lnTo>
                  <a:lnTo>
                    <a:pt x="47104" y="1711906"/>
                  </a:lnTo>
                  <a:lnTo>
                    <a:pt x="26836" y="1670767"/>
                  </a:lnTo>
                  <a:lnTo>
                    <a:pt x="12078" y="1627346"/>
                  </a:lnTo>
                  <a:lnTo>
                    <a:pt x="3057" y="1582191"/>
                  </a:lnTo>
                  <a:lnTo>
                    <a:pt x="0" y="1535849"/>
                  </a:lnTo>
                  <a:lnTo>
                    <a:pt x="0" y="352557"/>
                  </a:lnTo>
                  <a:lnTo>
                    <a:pt x="3057" y="306216"/>
                  </a:lnTo>
                  <a:lnTo>
                    <a:pt x="12078" y="261060"/>
                  </a:lnTo>
                  <a:lnTo>
                    <a:pt x="26836" y="217639"/>
                  </a:lnTo>
                  <a:lnTo>
                    <a:pt x="47104" y="176500"/>
                  </a:lnTo>
                  <a:lnTo>
                    <a:pt x="72655" y="138192"/>
                  </a:lnTo>
                  <a:lnTo>
                    <a:pt x="103261" y="103261"/>
                  </a:lnTo>
                  <a:lnTo>
                    <a:pt x="138192" y="72655"/>
                  </a:lnTo>
                  <a:lnTo>
                    <a:pt x="176500" y="47104"/>
                  </a:lnTo>
                  <a:lnTo>
                    <a:pt x="217639" y="26836"/>
                  </a:lnTo>
                  <a:lnTo>
                    <a:pt x="261060" y="12078"/>
                  </a:lnTo>
                  <a:lnTo>
                    <a:pt x="306216" y="3057"/>
                  </a:lnTo>
                  <a:lnTo>
                    <a:pt x="352557" y="0"/>
                  </a:lnTo>
                  <a:lnTo>
                    <a:pt x="6280885" y="0"/>
                  </a:lnTo>
                  <a:lnTo>
                    <a:pt x="6327226" y="3057"/>
                  </a:lnTo>
                  <a:lnTo>
                    <a:pt x="6372382" y="12078"/>
                  </a:lnTo>
                  <a:lnTo>
                    <a:pt x="6415803" y="26836"/>
                  </a:lnTo>
                  <a:lnTo>
                    <a:pt x="6456941" y="47104"/>
                  </a:lnTo>
                  <a:lnTo>
                    <a:pt x="6495250" y="72655"/>
                  </a:lnTo>
                  <a:lnTo>
                    <a:pt x="6530181" y="103261"/>
                  </a:lnTo>
                  <a:lnTo>
                    <a:pt x="6560787" y="138192"/>
                  </a:lnTo>
                  <a:lnTo>
                    <a:pt x="6586338" y="176500"/>
                  </a:lnTo>
                  <a:lnTo>
                    <a:pt x="6606606" y="217639"/>
                  </a:lnTo>
                  <a:lnTo>
                    <a:pt x="6621364" y="261060"/>
                  </a:lnTo>
                  <a:lnTo>
                    <a:pt x="6630385" y="306216"/>
                  </a:lnTo>
                  <a:lnTo>
                    <a:pt x="6631555" y="323950"/>
                  </a:lnTo>
                  <a:lnTo>
                    <a:pt x="6631555" y="1564457"/>
                  </a:lnTo>
                  <a:lnTo>
                    <a:pt x="6621364" y="1627346"/>
                  </a:lnTo>
                  <a:lnTo>
                    <a:pt x="6606606" y="1670767"/>
                  </a:lnTo>
                  <a:lnTo>
                    <a:pt x="6586338" y="1711906"/>
                  </a:lnTo>
                  <a:lnTo>
                    <a:pt x="6560787" y="1750215"/>
                  </a:lnTo>
                  <a:lnTo>
                    <a:pt x="6530181" y="1785145"/>
                  </a:lnTo>
                  <a:lnTo>
                    <a:pt x="6495250" y="1815752"/>
                  </a:lnTo>
                  <a:lnTo>
                    <a:pt x="6456941" y="1841302"/>
                  </a:lnTo>
                  <a:lnTo>
                    <a:pt x="6415803" y="1861570"/>
                  </a:lnTo>
                  <a:lnTo>
                    <a:pt x="6372382" y="1876328"/>
                  </a:lnTo>
                  <a:lnTo>
                    <a:pt x="6327226" y="1885349"/>
                  </a:lnTo>
                  <a:lnTo>
                    <a:pt x="6280885" y="1888407"/>
                  </a:lnTo>
                  <a:close/>
                </a:path>
              </a:pathLst>
            </a:custGeom>
            <a:solidFill>
              <a:srgbClr val="EB7C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23519" y="1132076"/>
              <a:ext cx="6631305" cy="1889125"/>
            </a:xfrm>
            <a:custGeom>
              <a:avLst/>
              <a:gdLst/>
              <a:ahLst/>
              <a:cxnLst/>
              <a:rect l="l" t="t" r="r" b="b"/>
              <a:pathLst>
                <a:path w="6631305" h="1889125">
                  <a:moveTo>
                    <a:pt x="956538" y="0"/>
                  </a:moveTo>
                  <a:lnTo>
                    <a:pt x="895019" y="2324"/>
                  </a:lnTo>
                  <a:lnTo>
                    <a:pt x="835634" y="6477"/>
                  </a:lnTo>
                  <a:lnTo>
                    <a:pt x="778383" y="12484"/>
                  </a:lnTo>
                  <a:lnTo>
                    <a:pt x="723252" y="20320"/>
                  </a:lnTo>
                  <a:lnTo>
                    <a:pt x="670255" y="29997"/>
                  </a:lnTo>
                  <a:lnTo>
                    <a:pt x="619391" y="41503"/>
                  </a:lnTo>
                  <a:lnTo>
                    <a:pt x="570661" y="54864"/>
                  </a:lnTo>
                  <a:lnTo>
                    <a:pt x="524052" y="70053"/>
                  </a:lnTo>
                  <a:lnTo>
                    <a:pt x="479577" y="87096"/>
                  </a:lnTo>
                  <a:lnTo>
                    <a:pt x="437235" y="105968"/>
                  </a:lnTo>
                  <a:lnTo>
                    <a:pt x="397027" y="126682"/>
                  </a:lnTo>
                  <a:lnTo>
                    <a:pt x="358940" y="149225"/>
                  </a:lnTo>
                  <a:lnTo>
                    <a:pt x="322999" y="173621"/>
                  </a:lnTo>
                  <a:lnTo>
                    <a:pt x="289179" y="199847"/>
                  </a:lnTo>
                  <a:lnTo>
                    <a:pt x="257479" y="227914"/>
                  </a:lnTo>
                  <a:lnTo>
                    <a:pt x="227926" y="257822"/>
                  </a:lnTo>
                  <a:lnTo>
                    <a:pt x="201904" y="287807"/>
                  </a:lnTo>
                  <a:lnTo>
                    <a:pt x="177469" y="319722"/>
                  </a:lnTo>
                  <a:lnTo>
                    <a:pt x="154597" y="353593"/>
                  </a:lnTo>
                  <a:lnTo>
                    <a:pt x="133299" y="389394"/>
                  </a:lnTo>
                  <a:lnTo>
                    <a:pt x="113588" y="427126"/>
                  </a:lnTo>
                  <a:lnTo>
                    <a:pt x="95453" y="466801"/>
                  </a:lnTo>
                  <a:lnTo>
                    <a:pt x="78892" y="508431"/>
                  </a:lnTo>
                  <a:lnTo>
                    <a:pt x="63906" y="551980"/>
                  </a:lnTo>
                  <a:lnTo>
                    <a:pt x="50495" y="597484"/>
                  </a:lnTo>
                  <a:lnTo>
                    <a:pt x="38658" y="644918"/>
                  </a:lnTo>
                  <a:lnTo>
                    <a:pt x="28409" y="694296"/>
                  </a:lnTo>
                  <a:lnTo>
                    <a:pt x="19723" y="745604"/>
                  </a:lnTo>
                  <a:lnTo>
                    <a:pt x="12623" y="798855"/>
                  </a:lnTo>
                  <a:lnTo>
                    <a:pt x="7112" y="854049"/>
                  </a:lnTo>
                  <a:lnTo>
                    <a:pt x="3162" y="911186"/>
                  </a:lnTo>
                  <a:lnTo>
                    <a:pt x="800" y="970254"/>
                  </a:lnTo>
                  <a:lnTo>
                    <a:pt x="0" y="1031265"/>
                  </a:lnTo>
                  <a:lnTo>
                    <a:pt x="0" y="1888185"/>
                  </a:lnTo>
                  <a:lnTo>
                    <a:pt x="956538" y="1888185"/>
                  </a:lnTo>
                  <a:lnTo>
                    <a:pt x="956538" y="978954"/>
                  </a:lnTo>
                  <a:lnTo>
                    <a:pt x="635203" y="978954"/>
                  </a:lnTo>
                  <a:lnTo>
                    <a:pt x="635203" y="922909"/>
                  </a:lnTo>
                  <a:lnTo>
                    <a:pt x="637286" y="866800"/>
                  </a:lnTo>
                  <a:lnTo>
                    <a:pt x="643509" y="815568"/>
                  </a:lnTo>
                  <a:lnTo>
                    <a:pt x="653897" y="769213"/>
                  </a:lnTo>
                  <a:lnTo>
                    <a:pt x="668426" y="727760"/>
                  </a:lnTo>
                  <a:lnTo>
                    <a:pt x="687108" y="691184"/>
                  </a:lnTo>
                  <a:lnTo>
                    <a:pt x="709942" y="659485"/>
                  </a:lnTo>
                  <a:lnTo>
                    <a:pt x="737565" y="632028"/>
                  </a:lnTo>
                  <a:lnTo>
                    <a:pt x="770585" y="608203"/>
                  </a:lnTo>
                  <a:lnTo>
                    <a:pt x="808990" y="588022"/>
                  </a:lnTo>
                  <a:lnTo>
                    <a:pt x="852779" y="571474"/>
                  </a:lnTo>
                  <a:lnTo>
                    <a:pt x="901966" y="558546"/>
                  </a:lnTo>
                  <a:lnTo>
                    <a:pt x="956538" y="549249"/>
                  </a:lnTo>
                  <a:lnTo>
                    <a:pt x="956538" y="0"/>
                  </a:lnTo>
                  <a:close/>
                </a:path>
                <a:path w="6631305" h="1889125">
                  <a:moveTo>
                    <a:pt x="2006561" y="0"/>
                  </a:moveTo>
                  <a:lnTo>
                    <a:pt x="1945043" y="2324"/>
                  </a:lnTo>
                  <a:lnTo>
                    <a:pt x="1885657" y="6477"/>
                  </a:lnTo>
                  <a:lnTo>
                    <a:pt x="1828393" y="12484"/>
                  </a:lnTo>
                  <a:lnTo>
                    <a:pt x="1773275" y="20320"/>
                  </a:lnTo>
                  <a:lnTo>
                    <a:pt x="1720278" y="29997"/>
                  </a:lnTo>
                  <a:lnTo>
                    <a:pt x="1669415" y="41503"/>
                  </a:lnTo>
                  <a:lnTo>
                    <a:pt x="1620672" y="54864"/>
                  </a:lnTo>
                  <a:lnTo>
                    <a:pt x="1574076" y="70053"/>
                  </a:lnTo>
                  <a:lnTo>
                    <a:pt x="1529600" y="87096"/>
                  </a:lnTo>
                  <a:lnTo>
                    <a:pt x="1487258" y="105968"/>
                  </a:lnTo>
                  <a:lnTo>
                    <a:pt x="1447050" y="126682"/>
                  </a:lnTo>
                  <a:lnTo>
                    <a:pt x="1408963" y="149225"/>
                  </a:lnTo>
                  <a:lnTo>
                    <a:pt x="1373022" y="173621"/>
                  </a:lnTo>
                  <a:lnTo>
                    <a:pt x="1339202" y="199847"/>
                  </a:lnTo>
                  <a:lnTo>
                    <a:pt x="1307503" y="227914"/>
                  </a:lnTo>
                  <a:lnTo>
                    <a:pt x="1277950" y="257822"/>
                  </a:lnTo>
                  <a:lnTo>
                    <a:pt x="1251927" y="287807"/>
                  </a:lnTo>
                  <a:lnTo>
                    <a:pt x="1227493" y="319722"/>
                  </a:lnTo>
                  <a:lnTo>
                    <a:pt x="1204620" y="353593"/>
                  </a:lnTo>
                  <a:lnTo>
                    <a:pt x="1183322" y="389394"/>
                  </a:lnTo>
                  <a:lnTo>
                    <a:pt x="1163612" y="427126"/>
                  </a:lnTo>
                  <a:lnTo>
                    <a:pt x="1145476" y="466801"/>
                  </a:lnTo>
                  <a:lnTo>
                    <a:pt x="1128915" y="508431"/>
                  </a:lnTo>
                  <a:lnTo>
                    <a:pt x="1113929" y="551980"/>
                  </a:lnTo>
                  <a:lnTo>
                    <a:pt x="1100518" y="597484"/>
                  </a:lnTo>
                  <a:lnTo>
                    <a:pt x="1088682" y="644918"/>
                  </a:lnTo>
                  <a:lnTo>
                    <a:pt x="1078433" y="694296"/>
                  </a:lnTo>
                  <a:lnTo>
                    <a:pt x="1069759" y="745604"/>
                  </a:lnTo>
                  <a:lnTo>
                    <a:pt x="1062647" y="798855"/>
                  </a:lnTo>
                  <a:lnTo>
                    <a:pt x="1057135" y="854049"/>
                  </a:lnTo>
                  <a:lnTo>
                    <a:pt x="1053185" y="911186"/>
                  </a:lnTo>
                  <a:lnTo>
                    <a:pt x="1050823" y="970254"/>
                  </a:lnTo>
                  <a:lnTo>
                    <a:pt x="1050023" y="1031265"/>
                  </a:lnTo>
                  <a:lnTo>
                    <a:pt x="1050023" y="1888185"/>
                  </a:lnTo>
                  <a:lnTo>
                    <a:pt x="2006561" y="1888185"/>
                  </a:lnTo>
                  <a:lnTo>
                    <a:pt x="2006561" y="978954"/>
                  </a:lnTo>
                  <a:lnTo>
                    <a:pt x="1685239" y="978954"/>
                  </a:lnTo>
                  <a:lnTo>
                    <a:pt x="1685239" y="922909"/>
                  </a:lnTo>
                  <a:lnTo>
                    <a:pt x="1687309" y="866800"/>
                  </a:lnTo>
                  <a:lnTo>
                    <a:pt x="1693532" y="815568"/>
                  </a:lnTo>
                  <a:lnTo>
                    <a:pt x="1703920" y="769213"/>
                  </a:lnTo>
                  <a:lnTo>
                    <a:pt x="1718449" y="727760"/>
                  </a:lnTo>
                  <a:lnTo>
                    <a:pt x="1737118" y="691184"/>
                  </a:lnTo>
                  <a:lnTo>
                    <a:pt x="1759940" y="659485"/>
                  </a:lnTo>
                  <a:lnTo>
                    <a:pt x="1787575" y="632028"/>
                  </a:lnTo>
                  <a:lnTo>
                    <a:pt x="1820583" y="608203"/>
                  </a:lnTo>
                  <a:lnTo>
                    <a:pt x="1859000" y="588022"/>
                  </a:lnTo>
                  <a:lnTo>
                    <a:pt x="1902790" y="571474"/>
                  </a:lnTo>
                  <a:lnTo>
                    <a:pt x="1951977" y="558546"/>
                  </a:lnTo>
                  <a:lnTo>
                    <a:pt x="2006561" y="549249"/>
                  </a:lnTo>
                  <a:lnTo>
                    <a:pt x="2006561" y="0"/>
                  </a:lnTo>
                  <a:close/>
                </a:path>
                <a:path w="6631305" h="1889125">
                  <a:moveTo>
                    <a:pt x="5581027" y="431"/>
                  </a:moveTo>
                  <a:lnTo>
                    <a:pt x="4624502" y="431"/>
                  </a:lnTo>
                  <a:lnTo>
                    <a:pt x="4624502" y="909662"/>
                  </a:lnTo>
                  <a:lnTo>
                    <a:pt x="4945824" y="909662"/>
                  </a:lnTo>
                  <a:lnTo>
                    <a:pt x="4945824" y="965695"/>
                  </a:lnTo>
                  <a:lnTo>
                    <a:pt x="4943754" y="1021816"/>
                  </a:lnTo>
                  <a:lnTo>
                    <a:pt x="4937531" y="1073048"/>
                  </a:lnTo>
                  <a:lnTo>
                    <a:pt x="4927143" y="1119390"/>
                  </a:lnTo>
                  <a:lnTo>
                    <a:pt x="4912614" y="1160856"/>
                  </a:lnTo>
                  <a:lnTo>
                    <a:pt x="4893945" y="1197432"/>
                  </a:lnTo>
                  <a:lnTo>
                    <a:pt x="4871123" y="1229131"/>
                  </a:lnTo>
                  <a:lnTo>
                    <a:pt x="4843488" y="1256588"/>
                  </a:lnTo>
                  <a:lnTo>
                    <a:pt x="4810468" y="1280401"/>
                  </a:lnTo>
                  <a:lnTo>
                    <a:pt x="4772063" y="1300594"/>
                  </a:lnTo>
                  <a:lnTo>
                    <a:pt x="4728273" y="1317142"/>
                  </a:lnTo>
                  <a:lnTo>
                    <a:pt x="4679086" y="1330071"/>
                  </a:lnTo>
                  <a:lnTo>
                    <a:pt x="4624502" y="1339367"/>
                  </a:lnTo>
                  <a:lnTo>
                    <a:pt x="4624502" y="1888617"/>
                  </a:lnTo>
                  <a:lnTo>
                    <a:pt x="4686020" y="1886292"/>
                  </a:lnTo>
                  <a:lnTo>
                    <a:pt x="4745406" y="1882140"/>
                  </a:lnTo>
                  <a:lnTo>
                    <a:pt x="4802670" y="1876132"/>
                  </a:lnTo>
                  <a:lnTo>
                    <a:pt x="4857788" y="1868297"/>
                  </a:lnTo>
                  <a:lnTo>
                    <a:pt x="4910785" y="1858619"/>
                  </a:lnTo>
                  <a:lnTo>
                    <a:pt x="4961648" y="1847100"/>
                  </a:lnTo>
                  <a:lnTo>
                    <a:pt x="5010391" y="1833753"/>
                  </a:lnTo>
                  <a:lnTo>
                    <a:pt x="5056987" y="1818551"/>
                  </a:lnTo>
                  <a:lnTo>
                    <a:pt x="5101463" y="1801520"/>
                  </a:lnTo>
                  <a:lnTo>
                    <a:pt x="5143805" y="1782648"/>
                  </a:lnTo>
                  <a:lnTo>
                    <a:pt x="5184013" y="1761934"/>
                  </a:lnTo>
                  <a:lnTo>
                    <a:pt x="5222100" y="1739392"/>
                  </a:lnTo>
                  <a:lnTo>
                    <a:pt x="5258041" y="1714995"/>
                  </a:lnTo>
                  <a:lnTo>
                    <a:pt x="5291861" y="1688769"/>
                  </a:lnTo>
                  <a:lnTo>
                    <a:pt x="5323548" y="1660702"/>
                  </a:lnTo>
                  <a:lnTo>
                    <a:pt x="5353113" y="1630794"/>
                  </a:lnTo>
                  <a:lnTo>
                    <a:pt x="5379136" y="1600809"/>
                  </a:lnTo>
                  <a:lnTo>
                    <a:pt x="5403570" y="1568881"/>
                  </a:lnTo>
                  <a:lnTo>
                    <a:pt x="5426443" y="1535023"/>
                  </a:lnTo>
                  <a:lnTo>
                    <a:pt x="5447728" y="1499222"/>
                  </a:lnTo>
                  <a:lnTo>
                    <a:pt x="5467451" y="1461490"/>
                  </a:lnTo>
                  <a:lnTo>
                    <a:pt x="5485587" y="1421803"/>
                  </a:lnTo>
                  <a:lnTo>
                    <a:pt x="5502148" y="1380185"/>
                  </a:lnTo>
                  <a:lnTo>
                    <a:pt x="5517134" y="1336636"/>
                  </a:lnTo>
                  <a:lnTo>
                    <a:pt x="5530545" y="1291132"/>
                  </a:lnTo>
                  <a:lnTo>
                    <a:pt x="5542381" y="1243698"/>
                  </a:lnTo>
                  <a:lnTo>
                    <a:pt x="5552630" y="1194320"/>
                  </a:lnTo>
                  <a:lnTo>
                    <a:pt x="5561304" y="1143012"/>
                  </a:lnTo>
                  <a:lnTo>
                    <a:pt x="5568404" y="1089761"/>
                  </a:lnTo>
                  <a:lnTo>
                    <a:pt x="5573928" y="1034567"/>
                  </a:lnTo>
                  <a:lnTo>
                    <a:pt x="5577878" y="977430"/>
                  </a:lnTo>
                  <a:lnTo>
                    <a:pt x="5580240" y="918362"/>
                  </a:lnTo>
                  <a:lnTo>
                    <a:pt x="5581027" y="857351"/>
                  </a:lnTo>
                  <a:lnTo>
                    <a:pt x="5581027" y="431"/>
                  </a:lnTo>
                  <a:close/>
                </a:path>
                <a:path w="6631305" h="1889125">
                  <a:moveTo>
                    <a:pt x="6631051" y="431"/>
                  </a:moveTo>
                  <a:lnTo>
                    <a:pt x="5674525" y="431"/>
                  </a:lnTo>
                  <a:lnTo>
                    <a:pt x="5674525" y="909662"/>
                  </a:lnTo>
                  <a:lnTo>
                    <a:pt x="5995848" y="909662"/>
                  </a:lnTo>
                  <a:lnTo>
                    <a:pt x="5995848" y="965695"/>
                  </a:lnTo>
                  <a:lnTo>
                    <a:pt x="5993777" y="1021816"/>
                  </a:lnTo>
                  <a:lnTo>
                    <a:pt x="5987554" y="1073048"/>
                  </a:lnTo>
                  <a:lnTo>
                    <a:pt x="5977166" y="1119390"/>
                  </a:lnTo>
                  <a:lnTo>
                    <a:pt x="5962637" y="1160856"/>
                  </a:lnTo>
                  <a:lnTo>
                    <a:pt x="5943955" y="1197432"/>
                  </a:lnTo>
                  <a:lnTo>
                    <a:pt x="5921121" y="1229131"/>
                  </a:lnTo>
                  <a:lnTo>
                    <a:pt x="5893498" y="1256588"/>
                  </a:lnTo>
                  <a:lnTo>
                    <a:pt x="5860478" y="1280401"/>
                  </a:lnTo>
                  <a:lnTo>
                    <a:pt x="5822073" y="1300594"/>
                  </a:lnTo>
                  <a:lnTo>
                    <a:pt x="5778284" y="1317142"/>
                  </a:lnTo>
                  <a:lnTo>
                    <a:pt x="5729097" y="1330071"/>
                  </a:lnTo>
                  <a:lnTo>
                    <a:pt x="5674525" y="1339367"/>
                  </a:lnTo>
                  <a:lnTo>
                    <a:pt x="5674525" y="1888617"/>
                  </a:lnTo>
                  <a:lnTo>
                    <a:pt x="5736044" y="1886292"/>
                  </a:lnTo>
                  <a:lnTo>
                    <a:pt x="5795429" y="1882140"/>
                  </a:lnTo>
                  <a:lnTo>
                    <a:pt x="5852680" y="1876132"/>
                  </a:lnTo>
                  <a:lnTo>
                    <a:pt x="5907811" y="1868297"/>
                  </a:lnTo>
                  <a:lnTo>
                    <a:pt x="5960808" y="1858619"/>
                  </a:lnTo>
                  <a:lnTo>
                    <a:pt x="6011672" y="1847100"/>
                  </a:lnTo>
                  <a:lnTo>
                    <a:pt x="6060402" y="1833753"/>
                  </a:lnTo>
                  <a:lnTo>
                    <a:pt x="6107011" y="1818551"/>
                  </a:lnTo>
                  <a:lnTo>
                    <a:pt x="6151486" y="1801520"/>
                  </a:lnTo>
                  <a:lnTo>
                    <a:pt x="6193828" y="1782648"/>
                  </a:lnTo>
                  <a:lnTo>
                    <a:pt x="6234036" y="1761934"/>
                  </a:lnTo>
                  <a:lnTo>
                    <a:pt x="6272123" y="1739392"/>
                  </a:lnTo>
                  <a:lnTo>
                    <a:pt x="6308064" y="1714995"/>
                  </a:lnTo>
                  <a:lnTo>
                    <a:pt x="6341885" y="1688769"/>
                  </a:lnTo>
                  <a:lnTo>
                    <a:pt x="6373571" y="1660702"/>
                  </a:lnTo>
                  <a:lnTo>
                    <a:pt x="6403137" y="1630794"/>
                  </a:lnTo>
                  <a:lnTo>
                    <a:pt x="6429159" y="1600809"/>
                  </a:lnTo>
                  <a:lnTo>
                    <a:pt x="6453594" y="1568881"/>
                  </a:lnTo>
                  <a:lnTo>
                    <a:pt x="6476466" y="1535023"/>
                  </a:lnTo>
                  <a:lnTo>
                    <a:pt x="6497752" y="1499222"/>
                  </a:lnTo>
                  <a:lnTo>
                    <a:pt x="6517475" y="1461490"/>
                  </a:lnTo>
                  <a:lnTo>
                    <a:pt x="6535610" y="1421803"/>
                  </a:lnTo>
                  <a:lnTo>
                    <a:pt x="6552171" y="1380185"/>
                  </a:lnTo>
                  <a:lnTo>
                    <a:pt x="6567157" y="1336636"/>
                  </a:lnTo>
                  <a:lnTo>
                    <a:pt x="6580568" y="1291132"/>
                  </a:lnTo>
                  <a:lnTo>
                    <a:pt x="6592405" y="1243698"/>
                  </a:lnTo>
                  <a:lnTo>
                    <a:pt x="6602654" y="1194320"/>
                  </a:lnTo>
                  <a:lnTo>
                    <a:pt x="6611328" y="1143012"/>
                  </a:lnTo>
                  <a:lnTo>
                    <a:pt x="6618440" y="1089761"/>
                  </a:lnTo>
                  <a:lnTo>
                    <a:pt x="6623952" y="1034567"/>
                  </a:lnTo>
                  <a:lnTo>
                    <a:pt x="6627901" y="977430"/>
                  </a:lnTo>
                  <a:lnTo>
                    <a:pt x="6630263" y="918362"/>
                  </a:lnTo>
                  <a:lnTo>
                    <a:pt x="6631051" y="857351"/>
                  </a:lnTo>
                  <a:lnTo>
                    <a:pt x="6631051" y="431"/>
                  </a:lnTo>
                  <a:close/>
                </a:path>
              </a:pathLst>
            </a:custGeom>
            <a:solidFill>
              <a:srgbClr val="F6850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743584" y="1446396"/>
            <a:ext cx="6069965" cy="12776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30700"/>
              </a:lnSpc>
              <a:spcBef>
                <a:spcPts val="100"/>
              </a:spcBef>
            </a:pPr>
            <a:r>
              <a:rPr sz="1100">
                <a:solidFill>
                  <a:srgbClr val="FFFFFF"/>
                </a:solidFill>
                <a:latin typeface="Trebuchet MS"/>
              </a:rPr>
              <a:t>"A dataRain se destacou pela proximidade e colaboração com nosso time, garantindo transferência de conhecimento e autonomia para operar a nova infraestrutura com confiança."</a:t>
            </a:r>
            <a:endParaRPr sz="1100" dirty="0">
              <a:latin typeface="Trebuchet MS"/>
              <a:cs typeface="Trebuchet MS"/>
            </a:endParaRPr>
          </a:p>
          <a:p>
            <a:pPr algn="just"/>
            <a:r>
              <a:rPr sz="1100">
                <a:solidFill>
                  <a:srgbClr val="FFFFFF"/>
                </a:solidFill>
                <a:latin typeface="Trebuchet MS"/>
              </a:rPr>
              <a:t/>
            </a:r>
          </a:p>
          <a:p>
            <a:pPr algn="just"/>
            <a:r>
              <a:rPr sz="1100">
                <a:solidFill>
                  <a:srgbClr val="FFFFFF"/>
                </a:solidFill>
                <a:latin typeface="Trebuchet MS"/>
              </a:rPr>
              <a:t>- HC Genomica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755</Words>
  <Application>Microsoft Macintosh PowerPoint</Application>
  <PresentationFormat>Custom</PresentationFormat>
  <Paragraphs>39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Calibri</vt:lpstr>
      <vt:lpstr>Tahoma</vt:lpstr>
      <vt:lpstr>Trebuchet MS</vt:lpstr>
      <vt:lpstr>Office Theme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Case PQ</dc:title>
  <dc:creator>Marketing dataRain</dc:creator>
  <cp:keywords>DAGwDfjSqkI,BAF8BeCTvrw,0</cp:keywords>
  <cp:lastModifiedBy>Pedro Guth</cp:lastModifiedBy>
  <cp:revision>1</cp:revision>
  <dcterms:created xsi:type="dcterms:W3CDTF">2026-02-16T02:43:00Z</dcterms:created>
  <dcterms:modified xsi:type="dcterms:W3CDTF">2026-02-16T02:44:09Z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2025-08-15T00:00:00Z</vt:filetime>
  </property>
  <property fmtid="{D5CDD505-2E9C-101B-9397-08002B2CF9AE}" pid="3" name="Creator">
    <vt:lpwstr>Canva</vt:lpwstr>
  </property>
  <property fmtid="{D5CDD505-2E9C-101B-9397-08002B2CF9AE}" pid="4" name="LastSaved">
    <vt:filetime>2026-02-16T00:00:00Z</vt:filetime>
  </property>
  <property fmtid="{D5CDD505-2E9C-101B-9397-08002B2CF9AE}" pid="5" name="Producer">
    <vt:lpwstr>Canva</vt:lpwstr>
  </property>
</Properties>
</file>