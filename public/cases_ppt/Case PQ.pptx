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7" d="100"/>
          <a:sy n="77" d="100"/>
        </p:scale>
        <p:origin x="356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807" y="2715863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2807" y="4104008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2807" y="6608412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2488461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3888359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6392762"/>
            <a:ext cx="162581" cy="10046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0"/>
            <a:ext cx="7562850" cy="2240915"/>
            <a:chOff x="0" y="0"/>
            <a:chExt cx="7562850" cy="224091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562850" cy="22407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8043" y="408837"/>
              <a:ext cx="2061845" cy="1570990"/>
            </a:xfrm>
            <a:custGeom>
              <a:avLst/>
              <a:gdLst/>
              <a:ahLst/>
              <a:cxnLst/>
              <a:rect l="l" t="t" r="r" b="b"/>
              <a:pathLst>
                <a:path w="2061845" h="1570989">
                  <a:moveTo>
                    <a:pt x="1937859" y="1570966"/>
                  </a:moveTo>
                  <a:lnTo>
                    <a:pt x="123871" y="1570966"/>
                  </a:lnTo>
                  <a:lnTo>
                    <a:pt x="99592" y="1568564"/>
                  </a:lnTo>
                  <a:lnTo>
                    <a:pt x="55147" y="1550155"/>
                  </a:lnTo>
                  <a:lnTo>
                    <a:pt x="20811" y="1515819"/>
                  </a:lnTo>
                  <a:lnTo>
                    <a:pt x="2402" y="1471374"/>
                  </a:lnTo>
                  <a:lnTo>
                    <a:pt x="0" y="1447095"/>
                  </a:lnTo>
                  <a:lnTo>
                    <a:pt x="0" y="123871"/>
                  </a:lnTo>
                  <a:lnTo>
                    <a:pt x="9429" y="76468"/>
                  </a:lnTo>
                  <a:lnTo>
                    <a:pt x="36281" y="36281"/>
                  </a:lnTo>
                  <a:lnTo>
                    <a:pt x="76468" y="9429"/>
                  </a:lnTo>
                  <a:lnTo>
                    <a:pt x="123871" y="0"/>
                  </a:lnTo>
                  <a:lnTo>
                    <a:pt x="1937859" y="0"/>
                  </a:lnTo>
                  <a:lnTo>
                    <a:pt x="1985263" y="9429"/>
                  </a:lnTo>
                  <a:lnTo>
                    <a:pt x="2025450" y="36281"/>
                  </a:lnTo>
                  <a:lnTo>
                    <a:pt x="2052302" y="76468"/>
                  </a:lnTo>
                  <a:lnTo>
                    <a:pt x="2061731" y="123871"/>
                  </a:lnTo>
                  <a:lnTo>
                    <a:pt x="2061731" y="1447095"/>
                  </a:lnTo>
                  <a:lnTo>
                    <a:pt x="2052302" y="1494498"/>
                  </a:lnTo>
                  <a:lnTo>
                    <a:pt x="2025450" y="1534685"/>
                  </a:lnTo>
                  <a:lnTo>
                    <a:pt x="1985263" y="1561537"/>
                  </a:lnTo>
                  <a:lnTo>
                    <a:pt x="1937859" y="1570966"/>
                  </a:lnTo>
                  <a:close/>
                </a:path>
              </a:pathLst>
            </a:custGeom>
            <a:solidFill>
              <a:srgbClr val="FFFFFF">
                <a:alpha val="8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17266" y="9410240"/>
            <a:ext cx="838515" cy="34302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6016" y="825098"/>
            <a:ext cx="1705617" cy="733701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488987" y="757507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88987" y="7937158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88987" y="811820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28644" y="7280325"/>
            <a:ext cx="468693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900" spc="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estratégia</a:t>
            </a:r>
            <a:r>
              <a:rPr sz="900" spc="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apostou</a:t>
            </a:r>
            <a:r>
              <a:rPr sz="900" spc="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sz="900" spc="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três</a:t>
            </a:r>
            <a:r>
              <a:rPr sz="900" spc="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12121"/>
                </a:solidFill>
                <a:latin typeface="Tahoma"/>
                <a:cs typeface="Tahoma"/>
              </a:rPr>
              <a:t>pilares:</a:t>
            </a:r>
            <a:endParaRPr sz="900">
              <a:latin typeface="Tahoma"/>
              <a:cs typeface="Tahoma"/>
            </a:endParaRPr>
          </a:p>
          <a:p>
            <a:pPr marL="206375" marR="5080">
              <a:lnSpc>
                <a:spcPct val="132000"/>
              </a:lnSpc>
            </a:pP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Processar</a:t>
            </a:r>
            <a:r>
              <a:rPr sz="900" spc="3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localmente</a:t>
            </a:r>
            <a:r>
              <a:rPr sz="900" spc="3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apenas</a:t>
            </a:r>
            <a:r>
              <a:rPr sz="900" spc="3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sz="900" spc="3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necessário</a:t>
            </a:r>
            <a:r>
              <a:rPr sz="900" spc="3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(na</a:t>
            </a:r>
            <a:r>
              <a:rPr sz="900" spc="3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borda),</a:t>
            </a:r>
            <a:r>
              <a:rPr sz="900" spc="3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reduzindo</a:t>
            </a:r>
            <a:r>
              <a:rPr sz="900" spc="3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latência</a:t>
            </a:r>
            <a:r>
              <a:rPr sz="900" spc="3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50" dirty="0">
                <a:solidFill>
                  <a:srgbClr val="212121"/>
                </a:solidFill>
                <a:latin typeface="Tahoma"/>
                <a:cs typeface="Tahoma"/>
              </a:rPr>
              <a:t>e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tráfego</a:t>
            </a:r>
            <a:r>
              <a:rPr sz="900" spc="2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40" dirty="0">
                <a:solidFill>
                  <a:srgbClr val="212121"/>
                </a:solidFill>
                <a:latin typeface="Tahoma"/>
                <a:cs typeface="Tahoma"/>
              </a:rPr>
              <a:t>desnecessário</a:t>
            </a:r>
            <a:endParaRPr sz="900">
              <a:latin typeface="Tahoma"/>
              <a:cs typeface="Tahoma"/>
            </a:endParaRPr>
          </a:p>
          <a:p>
            <a:pPr marL="206375">
              <a:lnSpc>
                <a:spcPct val="100000"/>
              </a:lnSpc>
              <a:spcBef>
                <a:spcPts val="345"/>
              </a:spcBef>
            </a:pP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Transportar</a:t>
            </a:r>
            <a:r>
              <a:rPr sz="900" spc="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os</a:t>
            </a:r>
            <a:r>
              <a:rPr sz="900" spc="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dados</a:t>
            </a:r>
            <a:r>
              <a:rPr sz="900" spc="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sz="900" spc="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forma</a:t>
            </a:r>
            <a:r>
              <a:rPr sz="900" spc="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segura</a:t>
            </a:r>
            <a:r>
              <a:rPr sz="900" spc="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sz="900" spc="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contínua</a:t>
            </a:r>
            <a:r>
              <a:rPr sz="900" spc="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sz="900" spc="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900" spc="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12121"/>
                </a:solidFill>
                <a:latin typeface="Tahoma"/>
                <a:cs typeface="Tahoma"/>
              </a:rPr>
              <a:t>nuvem</a:t>
            </a:r>
            <a:endParaRPr sz="900">
              <a:latin typeface="Tahoma"/>
              <a:cs typeface="Tahoma"/>
            </a:endParaRPr>
          </a:p>
          <a:p>
            <a:pPr marL="206375" marR="5080">
              <a:lnSpc>
                <a:spcPct val="132000"/>
              </a:lnSpc>
            </a:pP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Utilizar</a:t>
            </a:r>
            <a:r>
              <a:rPr sz="900" spc="2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serviços</a:t>
            </a:r>
            <a:r>
              <a:rPr sz="900" spc="2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serverless</a:t>
            </a:r>
            <a:r>
              <a:rPr sz="900" spc="2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sz="900" spc="2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escaláveis</a:t>
            </a:r>
            <a:r>
              <a:rPr sz="900" spc="2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sz="900" spc="2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AWS,</a:t>
            </a:r>
            <a:r>
              <a:rPr sz="900" spc="2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60" dirty="0">
                <a:solidFill>
                  <a:srgbClr val="212121"/>
                </a:solidFill>
                <a:latin typeface="Tahoma"/>
                <a:cs typeface="Tahoma"/>
              </a:rPr>
              <a:t>com</a:t>
            </a:r>
            <a:r>
              <a:rPr sz="900" spc="2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custos</a:t>
            </a:r>
            <a:r>
              <a:rPr sz="900" spc="2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alinhados</a:t>
            </a:r>
            <a:r>
              <a:rPr sz="900" spc="2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ao</a:t>
            </a:r>
            <a:r>
              <a:rPr sz="900" spc="2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5" dirty="0">
                <a:solidFill>
                  <a:srgbClr val="212121"/>
                </a:solidFill>
                <a:latin typeface="Tahoma"/>
                <a:cs typeface="Tahoma"/>
              </a:rPr>
              <a:t>uso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real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suporte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 múltiplas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 requisições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12121"/>
                </a:solidFill>
                <a:latin typeface="Tahoma"/>
                <a:cs typeface="Tahoma"/>
              </a:rPr>
              <a:t>simultâneas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7321610"/>
            <a:ext cx="2266950" cy="1940560"/>
          </a:xfrm>
          <a:custGeom>
            <a:avLst/>
            <a:gdLst/>
            <a:ahLst/>
            <a:cxnLst/>
            <a:rect l="l" t="t" r="r" b="b"/>
            <a:pathLst>
              <a:path w="2266950" h="1940559">
                <a:moveTo>
                  <a:pt x="2133332" y="1939994"/>
                </a:moveTo>
                <a:lnTo>
                  <a:pt x="0" y="1939994"/>
                </a:lnTo>
                <a:lnTo>
                  <a:pt x="0" y="0"/>
                </a:lnTo>
                <a:lnTo>
                  <a:pt x="2133332" y="0"/>
                </a:lnTo>
                <a:lnTo>
                  <a:pt x="2159479" y="2586"/>
                </a:lnTo>
                <a:lnTo>
                  <a:pt x="2207343" y="22412"/>
                </a:lnTo>
                <a:lnTo>
                  <a:pt x="2244320" y="59389"/>
                </a:lnTo>
                <a:lnTo>
                  <a:pt x="2264146" y="107253"/>
                </a:lnTo>
                <a:lnTo>
                  <a:pt x="2266747" y="133400"/>
                </a:lnTo>
                <a:lnTo>
                  <a:pt x="2266747" y="1806594"/>
                </a:lnTo>
                <a:lnTo>
                  <a:pt x="2256578" y="1857644"/>
                </a:lnTo>
                <a:lnTo>
                  <a:pt x="2227661" y="1900922"/>
                </a:lnTo>
                <a:lnTo>
                  <a:pt x="2184382" y="1929840"/>
                </a:lnTo>
                <a:lnTo>
                  <a:pt x="2133332" y="1939994"/>
                </a:lnTo>
                <a:close/>
              </a:path>
            </a:pathLst>
          </a:custGeom>
          <a:solidFill>
            <a:srgbClr val="3793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5343" y="4202300"/>
            <a:ext cx="665035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900" spc="459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PQ</a:t>
            </a:r>
            <a:r>
              <a:rPr sz="900" spc="4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gerenciava</a:t>
            </a:r>
            <a:r>
              <a:rPr sz="900" spc="4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seus</a:t>
            </a:r>
            <a:r>
              <a:rPr sz="900" spc="4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dados</a:t>
            </a:r>
            <a:r>
              <a:rPr sz="900" spc="4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industriais</a:t>
            </a:r>
            <a:r>
              <a:rPr sz="900" spc="4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60" dirty="0">
                <a:solidFill>
                  <a:srgbClr val="212121"/>
                </a:solidFill>
                <a:latin typeface="Tahoma"/>
                <a:cs typeface="Tahoma"/>
              </a:rPr>
              <a:t>com</a:t>
            </a:r>
            <a:r>
              <a:rPr sz="900" spc="4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sz="900" spc="459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historiador</a:t>
            </a:r>
            <a:r>
              <a:rPr sz="900" spc="4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tradicional,</a:t>
            </a:r>
            <a:r>
              <a:rPr sz="900" spc="4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complementado</a:t>
            </a:r>
            <a:r>
              <a:rPr sz="900" spc="4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pelo</a:t>
            </a:r>
            <a:r>
              <a:rPr sz="900" spc="4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Kepware</a:t>
            </a:r>
            <a:r>
              <a:rPr sz="900" spc="4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sz="900" spc="4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12121"/>
                </a:solidFill>
                <a:latin typeface="Tahoma"/>
                <a:cs typeface="Tahoma"/>
              </a:rPr>
              <a:t>pelo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TimescaleDB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na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AWS.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Por</a:t>
            </a:r>
            <a:r>
              <a:rPr sz="900" spc="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anos,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essa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60" dirty="0">
                <a:solidFill>
                  <a:srgbClr val="212121"/>
                </a:solidFill>
                <a:latin typeface="Tahoma"/>
                <a:cs typeface="Tahoma"/>
              </a:rPr>
              <a:t>combinação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manteve</a:t>
            </a:r>
            <a:r>
              <a:rPr sz="900" spc="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estabilidade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35" dirty="0">
                <a:solidFill>
                  <a:srgbClr val="212121"/>
                </a:solidFill>
                <a:latin typeface="Tahoma"/>
                <a:cs typeface="Tahoma"/>
              </a:rPr>
              <a:t>confiabilidade.</a:t>
            </a:r>
            <a:endParaRPr sz="9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900" dirty="0">
              <a:latin typeface="Tahoma"/>
              <a:cs typeface="Tahoma"/>
            </a:endParaRPr>
          </a:p>
          <a:p>
            <a:pPr marL="12700" marR="5080" algn="just">
              <a:lnSpc>
                <a:spcPct val="132000"/>
              </a:lnSpc>
              <a:spcBef>
                <a:spcPts val="5"/>
              </a:spcBef>
            </a:pPr>
            <a:r>
              <a:rPr sz="900" spc="70" dirty="0">
                <a:solidFill>
                  <a:srgbClr val="212121"/>
                </a:solidFill>
                <a:latin typeface="Tahoma"/>
                <a:cs typeface="Tahoma"/>
              </a:rPr>
              <a:t>Com</a:t>
            </a:r>
            <a:r>
              <a:rPr sz="900" spc="25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sz="900" spc="25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crescimento</a:t>
            </a:r>
            <a:r>
              <a:rPr sz="900" spc="25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sz="900" spc="25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empresa,</a:t>
            </a:r>
            <a:r>
              <a:rPr sz="900" spc="25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porém,</a:t>
            </a:r>
            <a:r>
              <a:rPr sz="900" spc="25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surgiram</a:t>
            </a:r>
            <a:r>
              <a:rPr sz="900" spc="25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limitações:</a:t>
            </a:r>
            <a:r>
              <a:rPr sz="900" spc="25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900" spc="25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administração</a:t>
            </a:r>
            <a:r>
              <a:rPr sz="900" spc="25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desse</a:t>
            </a:r>
            <a:r>
              <a:rPr sz="900" spc="25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sistema</a:t>
            </a:r>
            <a:r>
              <a:rPr sz="900" spc="25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histórico</a:t>
            </a:r>
            <a:r>
              <a:rPr sz="900" spc="25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era</a:t>
            </a:r>
            <a:r>
              <a:rPr sz="900" spc="25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12121"/>
                </a:solidFill>
                <a:latin typeface="Tahoma"/>
                <a:cs typeface="Tahoma"/>
              </a:rPr>
              <a:t>complexa, 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exigindo</a:t>
            </a:r>
            <a:r>
              <a:rPr sz="900" spc="3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especialistas</a:t>
            </a:r>
            <a:r>
              <a:rPr sz="900" spc="3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sz="900" spc="3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concentrando</a:t>
            </a:r>
            <a:r>
              <a:rPr sz="900" spc="3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boa</a:t>
            </a:r>
            <a:r>
              <a:rPr sz="900" spc="3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parte</a:t>
            </a:r>
            <a:r>
              <a:rPr sz="900" spc="3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sz="900" spc="3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60" dirty="0">
                <a:solidFill>
                  <a:srgbClr val="212121"/>
                </a:solidFill>
                <a:latin typeface="Tahoma"/>
                <a:cs typeface="Tahoma"/>
              </a:rPr>
              <a:t>lógica</a:t>
            </a:r>
            <a:r>
              <a:rPr sz="900" spc="3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sz="900" spc="3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60" dirty="0">
                <a:solidFill>
                  <a:srgbClr val="212121"/>
                </a:solidFill>
                <a:latin typeface="Tahoma"/>
                <a:cs typeface="Tahoma"/>
              </a:rPr>
              <a:t>negócios</a:t>
            </a:r>
            <a:r>
              <a:rPr sz="900" spc="3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no</a:t>
            </a:r>
            <a:r>
              <a:rPr sz="900" spc="3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próprio</a:t>
            </a:r>
            <a:r>
              <a:rPr sz="900" spc="3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ambiente,</a:t>
            </a:r>
            <a:r>
              <a:rPr sz="900" spc="3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sz="900" spc="3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900" spc="3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12121"/>
                </a:solidFill>
                <a:latin typeface="Tahoma"/>
                <a:cs typeface="Tahoma"/>
              </a:rPr>
              <a:t>dificultava 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evoluções.</a:t>
            </a:r>
            <a:r>
              <a:rPr sz="900" spc="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Além</a:t>
            </a:r>
            <a:r>
              <a:rPr sz="900" spc="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disso,</a:t>
            </a:r>
            <a:r>
              <a:rPr sz="900" spc="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sz="900" spc="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modelo</a:t>
            </a:r>
            <a:r>
              <a:rPr sz="900" spc="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sz="900" spc="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licenciamento</a:t>
            </a:r>
            <a:r>
              <a:rPr sz="900" spc="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não</a:t>
            </a:r>
            <a:r>
              <a:rPr sz="900" spc="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acompanhava</a:t>
            </a:r>
            <a:r>
              <a:rPr sz="900" spc="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900" spc="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dinâmica</a:t>
            </a:r>
            <a:r>
              <a:rPr sz="900" spc="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60" dirty="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sz="900" spc="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negócio,</a:t>
            </a:r>
            <a:r>
              <a:rPr sz="900" spc="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900" spc="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pedia</a:t>
            </a:r>
            <a:r>
              <a:rPr sz="900" spc="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flexibilidade</a:t>
            </a:r>
            <a:r>
              <a:rPr sz="900" spc="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50" dirty="0">
                <a:solidFill>
                  <a:srgbClr val="212121"/>
                </a:solidFill>
                <a:latin typeface="Tahoma"/>
                <a:cs typeface="Tahoma"/>
              </a:rPr>
              <a:t>e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custos 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sob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demanda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80" dirty="0">
                <a:solidFill>
                  <a:srgbClr val="212121"/>
                </a:solidFill>
                <a:latin typeface="Tahoma"/>
                <a:cs typeface="Tahoma"/>
              </a:rPr>
              <a:t>—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 pontos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fortes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nuvem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12121"/>
                </a:solidFill>
                <a:latin typeface="Tahoma"/>
                <a:cs typeface="Tahoma"/>
              </a:rPr>
              <a:t>AWS.</a:t>
            </a:r>
            <a:endParaRPr sz="9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900" dirty="0">
              <a:latin typeface="Tahoma"/>
              <a:cs typeface="Tahoma"/>
            </a:endParaRPr>
          </a:p>
          <a:p>
            <a:pPr marL="12700" marR="5080" algn="just">
              <a:lnSpc>
                <a:spcPct val="132000"/>
              </a:lnSpc>
            </a:pP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sz="900" spc="2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desafio</a:t>
            </a:r>
            <a:r>
              <a:rPr sz="900" spc="2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ficou</a:t>
            </a:r>
            <a:r>
              <a:rPr sz="900" spc="2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claro:</a:t>
            </a:r>
            <a:r>
              <a:rPr sz="900" spc="2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simplificar</a:t>
            </a:r>
            <a:r>
              <a:rPr sz="900" spc="2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900" spc="2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gestão</a:t>
            </a:r>
            <a:r>
              <a:rPr sz="900" spc="2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dos</a:t>
            </a:r>
            <a:r>
              <a:rPr sz="900" spc="2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dados</a:t>
            </a:r>
            <a:r>
              <a:rPr sz="900" spc="2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industriais,</a:t>
            </a:r>
            <a:r>
              <a:rPr sz="900" spc="2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dar</a:t>
            </a:r>
            <a:r>
              <a:rPr sz="900" spc="2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mais</a:t>
            </a:r>
            <a:r>
              <a:rPr sz="900" spc="2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autonomia</a:t>
            </a:r>
            <a:r>
              <a:rPr sz="900" spc="2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aos</a:t>
            </a:r>
            <a:r>
              <a:rPr sz="900" spc="2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times</a:t>
            </a:r>
            <a:r>
              <a:rPr sz="900" spc="2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sz="900" spc="2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potencializar</a:t>
            </a:r>
            <a:r>
              <a:rPr sz="900" spc="2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212121"/>
                </a:solidFill>
                <a:latin typeface="Tahoma"/>
                <a:cs typeface="Tahoma"/>
              </a:rPr>
              <a:t>os 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recursos</a:t>
            </a:r>
            <a:r>
              <a:rPr sz="900" spc="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já</a:t>
            </a:r>
            <a:r>
              <a:rPr sz="900" spc="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presentes</a:t>
            </a:r>
            <a:r>
              <a:rPr sz="9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na</a:t>
            </a:r>
            <a:r>
              <a:rPr sz="900" spc="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infraestrutura</a:t>
            </a:r>
            <a:r>
              <a:rPr sz="9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AWS,</a:t>
            </a:r>
            <a:r>
              <a:rPr sz="900" spc="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migrando</a:t>
            </a:r>
            <a:r>
              <a:rPr sz="9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sz="900" spc="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sz="9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modelo</a:t>
            </a:r>
            <a:r>
              <a:rPr sz="900" spc="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mais</a:t>
            </a:r>
            <a:r>
              <a:rPr sz="9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ágil</a:t>
            </a:r>
            <a:r>
              <a:rPr sz="900" spc="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sz="9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12121"/>
                </a:solidFill>
                <a:latin typeface="Tahoma"/>
                <a:cs typeface="Tahoma"/>
              </a:rPr>
              <a:t>escalável.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5343" y="6706703"/>
            <a:ext cx="665035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 spc="70" dirty="0">
                <a:solidFill>
                  <a:srgbClr val="212121"/>
                </a:solidFill>
                <a:latin typeface="Tahoma"/>
                <a:cs typeface="Tahoma"/>
              </a:rPr>
              <a:t>Com</a:t>
            </a:r>
            <a:r>
              <a:rPr sz="900" spc="1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sz="900" spc="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desafio</a:t>
            </a:r>
            <a:r>
              <a:rPr sz="900" spc="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sz="900" spc="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reconstruir</a:t>
            </a:r>
            <a:r>
              <a:rPr sz="900" spc="1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toda</a:t>
            </a:r>
            <a:r>
              <a:rPr sz="900" spc="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900" spc="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cadeia</a:t>
            </a:r>
            <a:r>
              <a:rPr sz="900" spc="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sz="900" spc="1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captura,</a:t>
            </a:r>
            <a:r>
              <a:rPr sz="900" spc="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tratamento</a:t>
            </a:r>
            <a:r>
              <a:rPr sz="900" spc="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sz="900" spc="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visualização</a:t>
            </a:r>
            <a:r>
              <a:rPr sz="900" spc="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sz="900" spc="1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dados</a:t>
            </a:r>
            <a:r>
              <a:rPr sz="900" spc="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industriais,</a:t>
            </a:r>
            <a:r>
              <a:rPr sz="900" spc="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900" spc="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proposta</a:t>
            </a:r>
            <a:r>
              <a:rPr sz="900" spc="1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212121"/>
                </a:solidFill>
                <a:latin typeface="Tahoma"/>
                <a:cs typeface="Tahoma"/>
              </a:rPr>
              <a:t>era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clara:</a:t>
            </a:r>
            <a:r>
              <a:rPr sz="900" spc="4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manter</a:t>
            </a:r>
            <a:r>
              <a:rPr sz="900" spc="4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900" spc="4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qualidade</a:t>
            </a:r>
            <a:r>
              <a:rPr sz="900" spc="4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sz="900" spc="4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confiabilidade</a:t>
            </a:r>
            <a:r>
              <a:rPr sz="900" spc="4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das</a:t>
            </a:r>
            <a:r>
              <a:rPr sz="900" spc="4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informações,</a:t>
            </a:r>
            <a:r>
              <a:rPr sz="900" spc="4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mas</a:t>
            </a:r>
            <a:r>
              <a:rPr sz="900" spc="4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60" dirty="0">
                <a:solidFill>
                  <a:srgbClr val="212121"/>
                </a:solidFill>
                <a:latin typeface="Tahoma"/>
                <a:cs typeface="Tahoma"/>
              </a:rPr>
              <a:t>com</a:t>
            </a:r>
            <a:r>
              <a:rPr sz="900" spc="4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sz="900" spc="4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arquitetura</a:t>
            </a:r>
            <a:r>
              <a:rPr sz="900" spc="4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mais</a:t>
            </a:r>
            <a:r>
              <a:rPr sz="900" spc="4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leve,</a:t>
            </a:r>
            <a:r>
              <a:rPr sz="900" spc="4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distribuída</a:t>
            </a:r>
            <a:r>
              <a:rPr sz="900" spc="4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50" dirty="0">
                <a:solidFill>
                  <a:srgbClr val="212121"/>
                </a:solidFill>
                <a:latin typeface="Tahoma"/>
                <a:cs typeface="Tahoma"/>
              </a:rPr>
              <a:t>e </a:t>
            </a:r>
            <a:r>
              <a:rPr sz="900" spc="-10" dirty="0">
                <a:solidFill>
                  <a:srgbClr val="212121"/>
                </a:solidFill>
                <a:latin typeface="Tahoma"/>
                <a:cs typeface="Tahoma"/>
              </a:rPr>
              <a:t>inteligente.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43" y="2784155"/>
            <a:ext cx="6650355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No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setor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químico,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60" dirty="0">
                <a:solidFill>
                  <a:srgbClr val="212121"/>
                </a:solidFill>
                <a:latin typeface="Tahoma"/>
                <a:cs typeface="Tahoma"/>
              </a:rPr>
              <a:t>onde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precisão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 eficiência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são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 decisivas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competitividade,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PQ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sempre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65" dirty="0">
                <a:solidFill>
                  <a:srgbClr val="212121"/>
                </a:solidFill>
                <a:latin typeface="Tahoma"/>
                <a:cs typeface="Tahoma"/>
              </a:rPr>
              <a:t>buscou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inovar.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5" dirty="0">
                <a:solidFill>
                  <a:srgbClr val="212121"/>
                </a:solidFill>
                <a:latin typeface="Tahoma"/>
                <a:cs typeface="Tahoma"/>
              </a:rPr>
              <a:t>Com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mais</a:t>
            </a:r>
            <a:r>
              <a:rPr sz="9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sz="9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quatro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décadas</a:t>
            </a:r>
            <a:r>
              <a:rPr sz="9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 atuação</a:t>
            </a:r>
            <a:r>
              <a:rPr sz="9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sz="9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presença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sz="9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segmentos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9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vão</a:t>
            </a:r>
            <a:r>
              <a:rPr sz="9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60" dirty="0">
                <a:solidFill>
                  <a:srgbClr val="212121"/>
                </a:solidFill>
                <a:latin typeface="Tahoma"/>
                <a:cs typeface="Tahoma"/>
              </a:rPr>
              <a:t>do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tratamento</a:t>
            </a:r>
            <a:r>
              <a:rPr sz="9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água</a:t>
            </a:r>
            <a:r>
              <a:rPr sz="9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à</a:t>
            </a:r>
            <a:r>
              <a:rPr sz="9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indústria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automotiva,</a:t>
            </a:r>
            <a:r>
              <a:rPr sz="9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50" dirty="0">
                <a:solidFill>
                  <a:srgbClr val="212121"/>
                </a:solidFill>
                <a:latin typeface="Tahoma"/>
                <a:cs typeface="Tahoma"/>
              </a:rPr>
              <a:t>a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empresa</a:t>
            </a:r>
            <a:r>
              <a:rPr sz="900" spc="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já</a:t>
            </a:r>
            <a:r>
              <a:rPr sz="900" spc="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nasceu</a:t>
            </a:r>
            <a:r>
              <a:rPr sz="900" spc="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60" dirty="0">
                <a:solidFill>
                  <a:srgbClr val="212121"/>
                </a:solidFill>
                <a:latin typeface="Tahoma"/>
                <a:cs typeface="Tahoma"/>
              </a:rPr>
              <a:t>com</a:t>
            </a:r>
            <a:r>
              <a:rPr sz="900" spc="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DNA</a:t>
            </a:r>
            <a:r>
              <a:rPr sz="900" spc="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inquieto.</a:t>
            </a:r>
            <a:r>
              <a:rPr sz="900" spc="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Mas,</a:t>
            </a:r>
            <a:r>
              <a:rPr sz="900" spc="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65" dirty="0">
                <a:solidFill>
                  <a:srgbClr val="212121"/>
                </a:solidFill>
                <a:latin typeface="Tahoma"/>
                <a:cs typeface="Tahoma"/>
              </a:rPr>
              <a:t>como</a:t>
            </a:r>
            <a:r>
              <a:rPr sz="900" spc="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toda</a:t>
            </a:r>
            <a:r>
              <a:rPr sz="900" spc="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organização</a:t>
            </a:r>
            <a:r>
              <a:rPr sz="900" spc="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sz="900" spc="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crescimento</a:t>
            </a:r>
            <a:r>
              <a:rPr sz="900" spc="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acelerado,</a:t>
            </a:r>
            <a:r>
              <a:rPr sz="900" spc="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65" dirty="0">
                <a:solidFill>
                  <a:srgbClr val="212121"/>
                </a:solidFill>
                <a:latin typeface="Tahoma"/>
                <a:cs typeface="Tahoma"/>
              </a:rPr>
              <a:t>chegou</a:t>
            </a:r>
            <a:r>
              <a:rPr sz="900" spc="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sz="900" spc="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momento</a:t>
            </a:r>
            <a:r>
              <a:rPr sz="900" spc="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212121"/>
                </a:solidFill>
                <a:latin typeface="Tahoma"/>
                <a:cs typeface="Tahoma"/>
              </a:rPr>
              <a:t>em 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900" spc="1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a infraestrutura 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digital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precisava</a:t>
            </a:r>
            <a:r>
              <a:rPr sz="900" spc="1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dar um </a:t>
            </a:r>
            <a:r>
              <a:rPr sz="900" spc="-10" dirty="0">
                <a:solidFill>
                  <a:srgbClr val="212121"/>
                </a:solidFill>
                <a:latin typeface="Tahoma"/>
                <a:cs typeface="Tahoma"/>
              </a:rPr>
              <a:t>salto.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43" y="2394321"/>
            <a:ext cx="60610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212121"/>
                </a:solidFill>
                <a:latin typeface="Tahoma"/>
                <a:cs typeface="Tahoma"/>
              </a:rPr>
              <a:t>COMO</a:t>
            </a:r>
            <a:r>
              <a:rPr sz="1600" b="1" spc="-1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6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600" b="1" spc="-30" dirty="0">
                <a:solidFill>
                  <a:srgbClr val="212121"/>
                </a:solidFill>
                <a:latin typeface="Tahoma"/>
                <a:cs typeface="Tahoma"/>
              </a:rPr>
              <a:t>PQ</a:t>
            </a:r>
            <a:r>
              <a:rPr sz="16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600" b="1" spc="-55" dirty="0">
                <a:solidFill>
                  <a:srgbClr val="212121"/>
                </a:solidFill>
                <a:latin typeface="Tahoma"/>
                <a:cs typeface="Tahoma"/>
              </a:rPr>
              <a:t>MODERNIZOU</a:t>
            </a:r>
            <a:r>
              <a:rPr sz="16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6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212121"/>
                </a:solidFill>
                <a:latin typeface="Tahoma"/>
                <a:cs typeface="Tahoma"/>
              </a:rPr>
              <a:t>COLETA</a:t>
            </a:r>
            <a:r>
              <a:rPr sz="16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600" b="1" spc="-25" dirty="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sz="16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600" b="1" spc="-30" dirty="0">
                <a:solidFill>
                  <a:srgbClr val="212121"/>
                </a:solidFill>
                <a:latin typeface="Tahoma"/>
                <a:cs typeface="Tahoma"/>
              </a:rPr>
              <a:t>DADOS</a:t>
            </a:r>
            <a:r>
              <a:rPr sz="1600" b="1" spc="-1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600" b="1" spc="-80" dirty="0">
                <a:solidFill>
                  <a:srgbClr val="212121"/>
                </a:solidFill>
                <a:latin typeface="Tahoma"/>
                <a:cs typeface="Tahoma"/>
              </a:rPr>
              <a:t>INDUSTRIAIS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343" y="3805970"/>
            <a:ext cx="58267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30" dirty="0">
                <a:solidFill>
                  <a:srgbClr val="212121"/>
                </a:solidFill>
                <a:latin typeface="Tahoma"/>
                <a:cs typeface="Tahoma"/>
              </a:rPr>
              <a:t>QUANDO</a:t>
            </a:r>
            <a:r>
              <a:rPr sz="1600" b="1" spc="-1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600" b="1" spc="-1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600" b="1" spc="-75" dirty="0">
                <a:solidFill>
                  <a:srgbClr val="212121"/>
                </a:solidFill>
                <a:latin typeface="Tahoma"/>
                <a:cs typeface="Tahoma"/>
              </a:rPr>
              <a:t>EFICIÊNCIA</a:t>
            </a:r>
            <a:r>
              <a:rPr sz="1600" b="1" spc="-1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600" b="1" spc="-50" dirty="0">
                <a:solidFill>
                  <a:srgbClr val="212121"/>
                </a:solidFill>
                <a:latin typeface="Tahoma"/>
                <a:cs typeface="Tahoma"/>
              </a:rPr>
              <a:t>ESBARRA</a:t>
            </a:r>
            <a:r>
              <a:rPr sz="1600" b="1" spc="-1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600" b="1" spc="-20" dirty="0">
                <a:solidFill>
                  <a:srgbClr val="212121"/>
                </a:solidFill>
                <a:latin typeface="Tahoma"/>
                <a:cs typeface="Tahoma"/>
              </a:rPr>
              <a:t>NOS</a:t>
            </a:r>
            <a:r>
              <a:rPr sz="1600" b="1" spc="-1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600" b="1" spc="-50" dirty="0">
                <a:solidFill>
                  <a:srgbClr val="212121"/>
                </a:solidFill>
                <a:latin typeface="Tahoma"/>
                <a:cs typeface="Tahoma"/>
              </a:rPr>
              <a:t>SISTEMAS</a:t>
            </a:r>
            <a:r>
              <a:rPr sz="1600" b="1" spc="-1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212121"/>
                </a:solidFill>
                <a:latin typeface="Tahoma"/>
                <a:cs typeface="Tahoma"/>
              </a:rPr>
              <a:t>LEGADOS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343" y="6314789"/>
            <a:ext cx="61633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60" dirty="0">
                <a:solidFill>
                  <a:srgbClr val="212121"/>
                </a:solidFill>
                <a:latin typeface="Tahoma"/>
                <a:cs typeface="Tahoma"/>
              </a:rPr>
              <a:t>PARCERIA</a:t>
            </a:r>
            <a:r>
              <a:rPr sz="1500" b="1" spc="-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500" b="1" spc="-65" dirty="0">
                <a:solidFill>
                  <a:srgbClr val="212121"/>
                </a:solidFill>
                <a:latin typeface="Tahoma"/>
                <a:cs typeface="Tahoma"/>
              </a:rPr>
              <a:t>DATARAIN:</a:t>
            </a:r>
            <a:r>
              <a:rPr sz="1500" b="1" spc="-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500" b="1" spc="-35" dirty="0">
                <a:solidFill>
                  <a:srgbClr val="212121"/>
                </a:solidFill>
                <a:latin typeface="Tahoma"/>
                <a:cs typeface="Tahoma"/>
              </a:rPr>
              <a:t>REESTRUTURANDO</a:t>
            </a:r>
            <a:r>
              <a:rPr sz="1500" b="1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sz="1500" b="1" spc="-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500" b="1" spc="-75" dirty="0">
                <a:solidFill>
                  <a:srgbClr val="212121"/>
                </a:solidFill>
                <a:latin typeface="Tahoma"/>
                <a:cs typeface="Tahoma"/>
              </a:rPr>
              <a:t>PIPELINE</a:t>
            </a:r>
            <a:r>
              <a:rPr sz="1500" b="1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500" b="1" spc="-40" dirty="0">
                <a:solidFill>
                  <a:srgbClr val="212121"/>
                </a:solidFill>
                <a:latin typeface="Tahoma"/>
                <a:cs typeface="Tahoma"/>
              </a:rPr>
              <a:t>INDUSTRIAL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6090" y="507597"/>
            <a:ext cx="3955415" cy="13519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215"/>
              </a:spcBef>
            </a:pPr>
            <a:r>
              <a:rPr sz="2200" b="1" spc="-70" dirty="0">
                <a:solidFill>
                  <a:srgbClr val="FFFFFF"/>
                </a:solidFill>
                <a:latin typeface="Tahoma"/>
                <a:cs typeface="Tahoma"/>
              </a:rPr>
              <a:t>PQ</a:t>
            </a:r>
            <a:r>
              <a:rPr sz="2200" b="1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75" dirty="0">
                <a:solidFill>
                  <a:srgbClr val="FFFFFF"/>
                </a:solidFill>
                <a:latin typeface="Tahoma"/>
                <a:cs typeface="Tahoma"/>
              </a:rPr>
              <a:t>moderniza</a:t>
            </a:r>
            <a:r>
              <a:rPr sz="2200" b="1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25" dirty="0">
                <a:solidFill>
                  <a:srgbClr val="FFFFFF"/>
                </a:solidFill>
                <a:latin typeface="Tahoma"/>
                <a:cs typeface="Tahoma"/>
              </a:rPr>
              <a:t>sua </a:t>
            </a:r>
            <a:r>
              <a:rPr sz="2200" b="1" spc="-100" dirty="0">
                <a:solidFill>
                  <a:srgbClr val="FFFFFF"/>
                </a:solidFill>
                <a:latin typeface="Tahoma"/>
                <a:cs typeface="Tahoma"/>
              </a:rPr>
              <a:t>infraestrutura</a:t>
            </a:r>
            <a:r>
              <a:rPr sz="2200" b="1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20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200" b="1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20" dirty="0">
                <a:solidFill>
                  <a:srgbClr val="FFFFFF"/>
                </a:solidFill>
                <a:latin typeface="Tahoma"/>
                <a:cs typeface="Tahoma"/>
              </a:rPr>
              <a:t>dados </a:t>
            </a:r>
            <a:r>
              <a:rPr sz="2200" b="1" spc="-80" dirty="0">
                <a:solidFill>
                  <a:srgbClr val="FFFFFF"/>
                </a:solidFill>
                <a:latin typeface="Tahoma"/>
                <a:cs typeface="Tahoma"/>
              </a:rPr>
              <a:t>industriais</a:t>
            </a:r>
            <a:r>
              <a:rPr sz="2200" b="1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35" dirty="0">
                <a:solidFill>
                  <a:srgbClr val="FFFFFF"/>
                </a:solidFill>
                <a:latin typeface="Tahoma"/>
                <a:cs typeface="Tahoma"/>
              </a:rPr>
              <a:t>com</a:t>
            </a:r>
            <a:r>
              <a:rPr sz="2200" b="1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25" dirty="0">
                <a:solidFill>
                  <a:srgbClr val="FFFFFF"/>
                </a:solidFill>
                <a:latin typeface="Tahoma"/>
                <a:cs typeface="Tahoma"/>
              </a:rPr>
              <a:t>uma </a:t>
            </a:r>
            <a:r>
              <a:rPr sz="2200" b="1" spc="-90" dirty="0">
                <a:solidFill>
                  <a:srgbClr val="FFFFFF"/>
                </a:solidFill>
                <a:latin typeface="Tahoma"/>
                <a:cs typeface="Tahoma"/>
              </a:rPr>
              <a:t>arquitetura</a:t>
            </a:r>
            <a:r>
              <a:rPr sz="2200" b="1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55" dirty="0">
                <a:solidFill>
                  <a:srgbClr val="FFFFFF"/>
                </a:solidFill>
                <a:latin typeface="Tahoma"/>
                <a:cs typeface="Tahoma"/>
              </a:rPr>
              <a:t>escalável</a:t>
            </a:r>
            <a:r>
              <a:rPr sz="2200" b="1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80" dirty="0">
                <a:solidFill>
                  <a:srgbClr val="FFFFFF"/>
                </a:solidFill>
                <a:latin typeface="Tahoma"/>
                <a:cs typeface="Tahoma"/>
              </a:rPr>
              <a:t>na</a:t>
            </a:r>
            <a:r>
              <a:rPr sz="2200" b="1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-45" dirty="0">
                <a:solidFill>
                  <a:srgbClr val="FFFFFF"/>
                </a:solidFill>
                <a:latin typeface="Tahoma"/>
                <a:cs typeface="Tahoma"/>
              </a:rPr>
              <a:t>AWS.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648" y="7391810"/>
            <a:ext cx="755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70" dirty="0">
                <a:solidFill>
                  <a:srgbClr val="FFFFFF"/>
                </a:solidFill>
                <a:latin typeface="Trebuchet MS"/>
                <a:cs typeface="Trebuchet MS"/>
              </a:rPr>
              <a:t>Você</a:t>
            </a:r>
            <a:r>
              <a:rPr sz="9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85" dirty="0">
                <a:solidFill>
                  <a:srgbClr val="FFFFFF"/>
                </a:solidFill>
                <a:latin typeface="Trebuchet MS"/>
                <a:cs typeface="Trebuchet MS"/>
              </a:rPr>
              <a:t>sabia?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0648" y="7677667"/>
            <a:ext cx="1734185" cy="1449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900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45" dirty="0">
                <a:solidFill>
                  <a:srgbClr val="FFFFFF"/>
                </a:solidFill>
                <a:latin typeface="Trebuchet MS"/>
                <a:cs typeface="Trebuchet MS"/>
              </a:rPr>
              <a:t>monitoramento</a:t>
            </a:r>
            <a:r>
              <a:rPr sz="900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900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Trebuchet MS"/>
                <a:cs typeface="Trebuchet MS"/>
              </a:rPr>
              <a:t>tempo 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real</a:t>
            </a:r>
            <a:r>
              <a:rPr sz="900" spc="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900" spc="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60" dirty="0">
                <a:solidFill>
                  <a:srgbClr val="FFFFFF"/>
                </a:solidFill>
                <a:latin typeface="Trebuchet MS"/>
                <a:cs typeface="Trebuchet MS"/>
              </a:rPr>
              <a:t> manutenção</a:t>
            </a:r>
            <a:r>
              <a:rPr sz="900" spc="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rebuchet MS"/>
                <a:cs typeface="Trebuchet MS"/>
              </a:rPr>
              <a:t>preditiva </a:t>
            </a:r>
            <a:r>
              <a:rPr sz="900" spc="55" dirty="0">
                <a:solidFill>
                  <a:srgbClr val="FFFFFF"/>
                </a:solidFill>
                <a:latin typeface="Trebuchet MS"/>
                <a:cs typeface="Trebuchet MS"/>
              </a:rPr>
              <a:t>podem</a:t>
            </a:r>
            <a:r>
              <a:rPr sz="900" spc="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reduzir</a:t>
            </a:r>
            <a:r>
              <a:rPr sz="900" spc="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900" spc="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40" dirty="0">
                <a:solidFill>
                  <a:srgbClr val="FFFFFF"/>
                </a:solidFill>
                <a:latin typeface="Trebuchet MS"/>
                <a:cs typeface="Trebuchet MS"/>
              </a:rPr>
              <a:t>downtime </a:t>
            </a:r>
            <a:r>
              <a:rPr sz="900" spc="55" dirty="0">
                <a:solidFill>
                  <a:srgbClr val="FFFFFF"/>
                </a:solidFill>
                <a:latin typeface="Trebuchet MS"/>
                <a:cs typeface="Trebuchet MS"/>
              </a:rPr>
              <a:t>não</a:t>
            </a:r>
            <a:r>
              <a:rPr sz="900" spc="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rebuchet MS"/>
                <a:cs typeface="Trebuchet MS"/>
              </a:rPr>
              <a:t>planejado</a:t>
            </a:r>
            <a:r>
              <a:rPr sz="900" spc="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900" spc="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10" dirty="0">
                <a:solidFill>
                  <a:srgbClr val="FFFFFF"/>
                </a:solidFill>
                <a:latin typeface="Trebuchet MS"/>
                <a:cs typeface="Trebuchet MS"/>
              </a:rPr>
              <a:t>até</a:t>
            </a:r>
            <a:r>
              <a:rPr sz="900" spc="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120" dirty="0">
                <a:solidFill>
                  <a:srgbClr val="FFFFFF"/>
                </a:solidFill>
                <a:latin typeface="Trebuchet MS"/>
                <a:cs typeface="Trebuchet MS"/>
              </a:rPr>
              <a:t>30%</a:t>
            </a:r>
            <a:r>
              <a:rPr sz="900" spc="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Trebuchet MS"/>
                <a:cs typeface="Trebuchet MS"/>
              </a:rPr>
              <a:t>e, </a:t>
            </a:r>
            <a:r>
              <a:rPr sz="900" spc="60" dirty="0">
                <a:solidFill>
                  <a:srgbClr val="FFFFFF"/>
                </a:solidFill>
                <a:latin typeface="Trebuchet MS"/>
                <a:cs typeface="Trebuchet MS"/>
              </a:rPr>
              <a:t>com</a:t>
            </a:r>
            <a:r>
              <a:rPr sz="9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IA,</a:t>
            </a:r>
            <a:r>
              <a:rPr sz="9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60" dirty="0">
                <a:solidFill>
                  <a:srgbClr val="FFFFFF"/>
                </a:solidFill>
                <a:latin typeface="Trebuchet MS"/>
                <a:cs typeface="Trebuchet MS"/>
              </a:rPr>
              <a:t>chegar</a:t>
            </a:r>
            <a:r>
              <a:rPr sz="9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FFFFFF"/>
                </a:solidFill>
                <a:latin typeface="Trebuchet MS"/>
                <a:cs typeface="Trebuchet MS"/>
              </a:rPr>
              <a:t>mais</a:t>
            </a:r>
            <a:r>
              <a:rPr sz="9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900" spc="75" dirty="0">
                <a:solidFill>
                  <a:srgbClr val="FFFFFF"/>
                </a:solidFill>
                <a:latin typeface="Trebuchet MS"/>
                <a:cs typeface="Trebuchet MS"/>
              </a:rPr>
              <a:t>60%.</a:t>
            </a:r>
            <a:r>
              <a:rPr sz="900" spc="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Além</a:t>
            </a:r>
            <a:r>
              <a:rPr sz="900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disso,</a:t>
            </a:r>
            <a:r>
              <a:rPr sz="900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80" dirty="0">
                <a:solidFill>
                  <a:srgbClr val="FFFFFF"/>
                </a:solidFill>
                <a:latin typeface="Trebuchet MS"/>
                <a:cs typeface="Trebuchet MS"/>
              </a:rPr>
              <a:t>essas </a:t>
            </a:r>
            <a:r>
              <a:rPr sz="900" spc="55" dirty="0">
                <a:solidFill>
                  <a:srgbClr val="FFFFFF"/>
                </a:solidFill>
                <a:latin typeface="Trebuchet MS"/>
                <a:cs typeface="Trebuchet MS"/>
              </a:rPr>
              <a:t>tecnologias</a:t>
            </a:r>
            <a:r>
              <a:rPr sz="900" spc="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FFFFFF"/>
                </a:solidFill>
                <a:latin typeface="Trebuchet MS"/>
                <a:cs typeface="Trebuchet MS"/>
              </a:rPr>
              <a:t>podem</a:t>
            </a:r>
            <a:r>
              <a:rPr sz="900" spc="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cortar</a:t>
            </a:r>
            <a:r>
              <a:rPr sz="900" spc="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Trebuchet MS"/>
                <a:cs typeface="Trebuchet MS"/>
              </a:rPr>
              <a:t>em 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até</a:t>
            </a:r>
            <a:r>
              <a:rPr sz="900" spc="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135" dirty="0">
                <a:solidFill>
                  <a:srgbClr val="FFFFFF"/>
                </a:solidFill>
                <a:latin typeface="Trebuchet MS"/>
                <a:cs typeface="Trebuchet MS"/>
              </a:rPr>
              <a:t>80%</a:t>
            </a:r>
            <a:r>
              <a:rPr sz="900" spc="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FFFFFF"/>
                </a:solidFill>
                <a:latin typeface="Trebuchet MS"/>
                <a:cs typeface="Trebuchet MS"/>
              </a:rPr>
              <a:t>os</a:t>
            </a:r>
            <a:r>
              <a:rPr sz="900" spc="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75" dirty="0">
                <a:solidFill>
                  <a:srgbClr val="FFFFFF"/>
                </a:solidFill>
                <a:latin typeface="Trebuchet MS"/>
                <a:cs typeface="Trebuchet MS"/>
              </a:rPr>
              <a:t>custos</a:t>
            </a:r>
            <a:r>
              <a:rPr sz="900" spc="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900" spc="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reparo</a:t>
            </a:r>
            <a:r>
              <a:rPr sz="900" spc="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Trebuchet MS"/>
                <a:cs typeface="Trebuchet MS"/>
              </a:rPr>
              <a:t>, </a:t>
            </a:r>
            <a:r>
              <a:rPr sz="900" spc="45" dirty="0">
                <a:solidFill>
                  <a:srgbClr val="FFFFFF"/>
                </a:solidFill>
                <a:latin typeface="Trebuchet MS"/>
                <a:cs typeface="Trebuchet MS"/>
              </a:rPr>
              <a:t>fortalecendo</a:t>
            </a:r>
            <a:r>
              <a:rPr sz="900" spc="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FFFFFF"/>
                </a:solidFill>
                <a:latin typeface="Trebuchet MS"/>
                <a:cs typeface="Trebuchet MS"/>
              </a:rPr>
              <a:t>iniciativas</a:t>
            </a:r>
            <a:r>
              <a:rPr sz="900" spc="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55" dirty="0">
                <a:solidFill>
                  <a:srgbClr val="FFFFFF"/>
                </a:solidFill>
                <a:latin typeface="Trebuchet MS"/>
                <a:cs typeface="Trebuchet MS"/>
              </a:rPr>
              <a:t>ESG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9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FFFFFF"/>
                </a:solidFill>
                <a:latin typeface="Trebuchet MS"/>
                <a:cs typeface="Trebuchet MS"/>
              </a:rPr>
              <a:t>conformidade</a:t>
            </a:r>
            <a:r>
              <a:rPr sz="9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Trebuchet MS"/>
                <a:cs typeface="Trebuchet MS"/>
              </a:rPr>
              <a:t>regulatória.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7123" y="10687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7123" y="7270453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858129"/>
            <a:ext cx="162581" cy="1004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7059832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1355" y="10062335"/>
            <a:ext cx="838515" cy="3430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2359" y="3130004"/>
            <a:ext cx="6631898" cy="36835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9662" y="1100411"/>
            <a:ext cx="6654165" cy="182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1300"/>
              </a:lnSpc>
              <a:spcBef>
                <a:spcPts val="100"/>
              </a:spcBef>
            </a:pPr>
            <a:r>
              <a:rPr sz="1000" spc="65" dirty="0">
                <a:solidFill>
                  <a:srgbClr val="212121"/>
                </a:solidFill>
                <a:latin typeface="Tahoma"/>
                <a:cs typeface="Tahoma"/>
              </a:rPr>
              <a:t>Tudo</a:t>
            </a:r>
            <a:r>
              <a:rPr sz="1000" spc="110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000" spc="65" dirty="0">
                <a:solidFill>
                  <a:srgbClr val="212121"/>
                </a:solidFill>
                <a:latin typeface="Tahoma"/>
                <a:cs typeface="Tahoma"/>
              </a:rPr>
              <a:t>começa</a:t>
            </a:r>
            <a:r>
              <a:rPr sz="1000" spc="114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000" spc="65" dirty="0">
                <a:solidFill>
                  <a:srgbClr val="212121"/>
                </a:solidFill>
                <a:latin typeface="Tahoma"/>
                <a:cs typeface="Tahoma"/>
              </a:rPr>
              <a:t>onde</a:t>
            </a:r>
            <a:r>
              <a:rPr sz="1000" spc="110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os</a:t>
            </a:r>
            <a:r>
              <a:rPr sz="1000" spc="114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000" spc="60" dirty="0">
                <a:solidFill>
                  <a:srgbClr val="212121"/>
                </a:solidFill>
                <a:latin typeface="Tahoma"/>
                <a:cs typeface="Tahoma"/>
              </a:rPr>
              <a:t>dados</a:t>
            </a:r>
            <a:r>
              <a:rPr sz="1000" spc="114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nascem:</a:t>
            </a:r>
            <a:r>
              <a:rPr sz="1000" spc="110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no</a:t>
            </a:r>
            <a:r>
              <a:rPr sz="1000" spc="114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000" spc="60" dirty="0">
                <a:solidFill>
                  <a:srgbClr val="212121"/>
                </a:solidFill>
                <a:latin typeface="Tahoma"/>
                <a:cs typeface="Tahoma"/>
              </a:rPr>
              <a:t>chão</a:t>
            </a:r>
            <a:r>
              <a:rPr sz="1000" spc="114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sz="1000" spc="110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fábrica.</a:t>
            </a:r>
            <a:r>
              <a:rPr sz="1000" spc="114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Sensores</a:t>
            </a:r>
            <a:r>
              <a:rPr sz="1000" spc="114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sz="1000" spc="110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máquinas</a:t>
            </a:r>
            <a:r>
              <a:rPr sz="1000" spc="114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enviam</a:t>
            </a:r>
            <a:r>
              <a:rPr sz="1000" spc="110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dados continuamente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PLCs.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gateway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IoT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65" dirty="0">
                <a:solidFill>
                  <a:srgbClr val="212121"/>
                </a:solidFill>
                <a:latin typeface="Tahoma"/>
                <a:cs typeface="Tahoma"/>
              </a:rPr>
              <a:t>com</a:t>
            </a:r>
            <a:r>
              <a:rPr sz="1000" spc="2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Kepware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capta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essas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informações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as</a:t>
            </a:r>
            <a:r>
              <a:rPr sz="1000" spc="2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transmite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212121"/>
                </a:solidFill>
                <a:latin typeface="Tahoma"/>
                <a:cs typeface="Tahoma"/>
              </a:rPr>
              <a:t>o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Amazon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Greengrass,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executa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 scripts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Python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filtragem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pré-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processamento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60" dirty="0">
                <a:solidFill>
                  <a:srgbClr val="212121"/>
                </a:solidFill>
                <a:latin typeface="Tahoma"/>
                <a:cs typeface="Tahoma"/>
              </a:rPr>
              <a:t>dos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Tahoma"/>
                <a:cs typeface="Tahoma"/>
              </a:rPr>
              <a:t>dados.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000">
              <a:latin typeface="Tahoma"/>
              <a:cs typeface="Tahoma"/>
            </a:endParaRPr>
          </a:p>
          <a:p>
            <a:pPr marL="12700" marR="5080" algn="just">
              <a:lnSpc>
                <a:spcPct val="131300"/>
              </a:lnSpc>
            </a:pP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fluxo</a:t>
            </a:r>
            <a:r>
              <a:rPr sz="1000" spc="1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segue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Amazon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Kinesis,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gerencia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volume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tempo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real.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seguida,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funções</a:t>
            </a:r>
            <a:r>
              <a:rPr sz="1000" spc="1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30" dirty="0">
                <a:solidFill>
                  <a:srgbClr val="212121"/>
                </a:solidFill>
                <a:latin typeface="Tahoma"/>
                <a:cs typeface="Tahoma"/>
              </a:rPr>
              <a:t>AWS </a:t>
            </a:r>
            <a:r>
              <a:rPr sz="1000" spc="65" dirty="0">
                <a:solidFill>
                  <a:srgbClr val="212121"/>
                </a:solidFill>
                <a:latin typeface="Tahoma"/>
                <a:cs typeface="Tahoma"/>
              </a:rPr>
              <a:t>Lambda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 automatizam</a:t>
            </a:r>
            <a:r>
              <a:rPr sz="1000" spc="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000" spc="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ingestão</a:t>
            </a:r>
            <a:r>
              <a:rPr sz="1000" spc="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60" dirty="0">
                <a:solidFill>
                  <a:srgbClr val="212121"/>
                </a:solidFill>
                <a:latin typeface="Tahoma"/>
                <a:cs typeface="Tahoma"/>
              </a:rPr>
              <a:t>dos</a:t>
            </a:r>
            <a:r>
              <a:rPr sz="1000" spc="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60" dirty="0">
                <a:solidFill>
                  <a:srgbClr val="212121"/>
                </a:solidFill>
                <a:latin typeface="Tahoma"/>
                <a:cs typeface="Tahoma"/>
              </a:rPr>
              <a:t>dados</a:t>
            </a:r>
            <a:r>
              <a:rPr sz="1000" spc="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no</a:t>
            </a:r>
            <a:r>
              <a:rPr sz="1000" spc="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TimescaleDB,</a:t>
            </a:r>
            <a:r>
              <a:rPr sz="1000" spc="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65" dirty="0">
                <a:solidFill>
                  <a:srgbClr val="212121"/>
                </a:solidFill>
                <a:latin typeface="Tahoma"/>
                <a:cs typeface="Tahoma"/>
              </a:rPr>
              <a:t>banco</a:t>
            </a:r>
            <a:r>
              <a:rPr sz="1000" spc="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otimizado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 para</a:t>
            </a:r>
            <a:r>
              <a:rPr sz="1000" spc="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séries</a:t>
            </a:r>
            <a:r>
              <a:rPr sz="1000" spc="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Tahoma"/>
                <a:cs typeface="Tahoma"/>
              </a:rPr>
              <a:t>temporais.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000">
              <a:latin typeface="Tahoma"/>
              <a:cs typeface="Tahoma"/>
            </a:endParaRPr>
          </a:p>
          <a:p>
            <a:pPr marL="12700" marR="5080" algn="just">
              <a:lnSpc>
                <a:spcPct val="131300"/>
              </a:lnSpc>
            </a:pP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Os</a:t>
            </a:r>
            <a:r>
              <a:rPr sz="1000" spc="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60" dirty="0">
                <a:solidFill>
                  <a:srgbClr val="212121"/>
                </a:solidFill>
                <a:latin typeface="Tahoma"/>
                <a:cs typeface="Tahoma"/>
              </a:rPr>
              <a:t>dados</a:t>
            </a:r>
            <a:r>
              <a:rPr sz="1000" spc="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mestres</a:t>
            </a:r>
            <a:r>
              <a:rPr sz="1000" spc="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ficam</a:t>
            </a:r>
            <a:r>
              <a:rPr sz="1000" spc="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centralizados</a:t>
            </a:r>
            <a:r>
              <a:rPr sz="1000" spc="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sz="1000" spc="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sz="1000" spc="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ambiente</a:t>
            </a:r>
            <a:r>
              <a:rPr sz="1000" spc="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Microsoft</a:t>
            </a:r>
            <a:r>
              <a:rPr sz="1000" spc="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60" dirty="0">
                <a:solidFill>
                  <a:srgbClr val="212121"/>
                </a:solidFill>
                <a:latin typeface="Tahoma"/>
                <a:cs typeface="Tahoma"/>
              </a:rPr>
              <a:t>SQL</a:t>
            </a:r>
            <a:r>
              <a:rPr sz="1000" spc="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Server,</a:t>
            </a:r>
            <a:r>
              <a:rPr sz="1000" spc="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acessível</a:t>
            </a:r>
            <a:r>
              <a:rPr sz="1000" spc="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via</a:t>
            </a:r>
            <a:r>
              <a:rPr sz="1000" spc="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Excel.</a:t>
            </a:r>
            <a:r>
              <a:rPr sz="1000" spc="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Na</a:t>
            </a:r>
            <a:r>
              <a:rPr sz="1000" spc="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Tahoma"/>
                <a:cs typeface="Tahoma"/>
              </a:rPr>
              <a:t>ponta,</a:t>
            </a:r>
            <a:r>
              <a:rPr sz="1000" spc="5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a plataforma</a:t>
            </a:r>
            <a:r>
              <a:rPr sz="1000" spc="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Seeq</a:t>
            </a:r>
            <a:r>
              <a:rPr sz="1000" spc="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transforma</a:t>
            </a:r>
            <a:r>
              <a:rPr sz="1000" spc="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tudo</a:t>
            </a:r>
            <a:r>
              <a:rPr sz="1000" spc="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sz="1000" spc="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dashboards</a:t>
            </a:r>
            <a:r>
              <a:rPr sz="1000" spc="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sz="1000" spc="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análises</a:t>
            </a:r>
            <a:r>
              <a:rPr sz="1000" spc="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Tahoma"/>
                <a:cs typeface="Tahoma"/>
              </a:rPr>
              <a:t>visuais.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9662" y="6976840"/>
            <a:ext cx="6654165" cy="235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212121"/>
                </a:solidFill>
                <a:latin typeface="Tahoma"/>
                <a:cs typeface="Tahoma"/>
              </a:rPr>
              <a:t>RESULTADOS</a:t>
            </a:r>
            <a:r>
              <a:rPr sz="1400" b="1" spc="-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12121"/>
                </a:solidFill>
                <a:latin typeface="Tahoma"/>
                <a:cs typeface="Tahoma"/>
              </a:rPr>
              <a:t>NA</a:t>
            </a:r>
            <a:r>
              <a:rPr sz="1400" b="1" spc="-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212121"/>
                </a:solidFill>
                <a:latin typeface="Tahoma"/>
                <a:cs typeface="Tahoma"/>
              </a:rPr>
              <a:t>PRÁTICA:</a:t>
            </a:r>
            <a:r>
              <a:rPr sz="1400" b="1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25" dirty="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sz="1400" b="1" spc="-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30" dirty="0">
                <a:solidFill>
                  <a:srgbClr val="212121"/>
                </a:solidFill>
                <a:latin typeface="Tahoma"/>
                <a:cs typeface="Tahoma"/>
              </a:rPr>
              <a:t>COMPLEXIDADE</a:t>
            </a:r>
            <a:r>
              <a:rPr sz="1400" b="1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À</a:t>
            </a:r>
            <a:r>
              <a:rPr sz="1400" b="1" spc="-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45" dirty="0">
                <a:solidFill>
                  <a:srgbClr val="212121"/>
                </a:solidFill>
                <a:latin typeface="Tahoma"/>
                <a:cs typeface="Tahoma"/>
              </a:rPr>
              <a:t>FLUIDEZ</a:t>
            </a:r>
            <a:r>
              <a:rPr sz="1400" b="1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12121"/>
                </a:solidFill>
                <a:latin typeface="Tahoma"/>
                <a:cs typeface="Tahoma"/>
              </a:rPr>
              <a:t>OPERACIONAL</a:t>
            </a:r>
            <a:endParaRPr sz="1400">
              <a:latin typeface="Tahoma"/>
              <a:cs typeface="Tahoma"/>
            </a:endParaRPr>
          </a:p>
          <a:p>
            <a:pPr marL="12700" marR="5080" algn="just">
              <a:lnSpc>
                <a:spcPct val="131300"/>
              </a:lnSpc>
              <a:spcBef>
                <a:spcPts val="880"/>
              </a:spcBef>
            </a:pPr>
            <a:r>
              <a:rPr sz="1000" spc="75" dirty="0">
                <a:solidFill>
                  <a:srgbClr val="212121"/>
                </a:solidFill>
                <a:latin typeface="Tahoma"/>
                <a:cs typeface="Tahoma"/>
              </a:rPr>
              <a:t>Com</a:t>
            </a:r>
            <a:r>
              <a:rPr sz="1000" spc="409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000" spc="41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nova</a:t>
            </a:r>
            <a:r>
              <a:rPr sz="1000" spc="41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arquitetura,</a:t>
            </a:r>
            <a:r>
              <a:rPr sz="1000" spc="409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000" spc="41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PQ</a:t>
            </a:r>
            <a:r>
              <a:rPr sz="1000" spc="41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60" dirty="0">
                <a:solidFill>
                  <a:srgbClr val="212121"/>
                </a:solidFill>
                <a:latin typeface="Tahoma"/>
                <a:cs typeface="Tahoma"/>
              </a:rPr>
              <a:t>ganhou</a:t>
            </a:r>
            <a:r>
              <a:rPr sz="1000" spc="41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sz="1000" spc="409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visão</a:t>
            </a:r>
            <a:r>
              <a:rPr sz="1000" spc="41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clara</a:t>
            </a:r>
            <a:r>
              <a:rPr sz="1000" spc="41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sz="1000" spc="41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acionável</a:t>
            </a:r>
            <a:r>
              <a:rPr sz="1000" spc="409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sz="1000" spc="41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operação.</a:t>
            </a:r>
            <a:r>
              <a:rPr sz="1000" spc="41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Dados</a:t>
            </a:r>
            <a:r>
              <a:rPr sz="1000" spc="41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000" spc="409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Tahoma"/>
                <a:cs typeface="Tahoma"/>
              </a:rPr>
              <a:t>antes 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demoravam</a:t>
            </a:r>
            <a:r>
              <a:rPr sz="10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0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chegar</a:t>
            </a:r>
            <a:r>
              <a:rPr sz="10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agora</a:t>
            </a:r>
            <a:r>
              <a:rPr sz="10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fluem</a:t>
            </a:r>
            <a:r>
              <a:rPr sz="10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quase</a:t>
            </a:r>
            <a:r>
              <a:rPr sz="10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sz="10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tempo</a:t>
            </a:r>
            <a:r>
              <a:rPr sz="10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real,</a:t>
            </a:r>
            <a:r>
              <a:rPr sz="10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65" dirty="0">
                <a:solidFill>
                  <a:srgbClr val="212121"/>
                </a:solidFill>
                <a:latin typeface="Tahoma"/>
                <a:cs typeface="Tahoma"/>
              </a:rPr>
              <a:t>com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dashboards</a:t>
            </a:r>
            <a:r>
              <a:rPr sz="10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acessíveis</a:t>
            </a:r>
            <a:r>
              <a:rPr sz="10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sz="10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Tahoma"/>
                <a:cs typeface="Tahoma"/>
              </a:rPr>
              <a:t>confiáveis.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000">
              <a:latin typeface="Tahoma"/>
              <a:cs typeface="Tahoma"/>
            </a:endParaRPr>
          </a:p>
          <a:p>
            <a:pPr marL="12700" marR="5080" algn="just">
              <a:lnSpc>
                <a:spcPct val="131300"/>
              </a:lnSpc>
              <a:spcBef>
                <a:spcPts val="5"/>
              </a:spcBef>
            </a:pP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sz="1000" spc="2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primeiro</a:t>
            </a:r>
            <a:r>
              <a:rPr sz="1000" spc="2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impacto</a:t>
            </a:r>
            <a:r>
              <a:rPr sz="1000" spc="2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foi</a:t>
            </a:r>
            <a:r>
              <a:rPr sz="1000" spc="2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000" spc="2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redução</a:t>
            </a:r>
            <a:r>
              <a:rPr sz="1000" spc="25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sz="1000" spc="2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latência:</a:t>
            </a:r>
            <a:r>
              <a:rPr sz="1000" spc="2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informações</a:t>
            </a:r>
            <a:r>
              <a:rPr sz="1000" spc="2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60" dirty="0">
                <a:solidFill>
                  <a:srgbClr val="212121"/>
                </a:solidFill>
                <a:latin typeface="Tahoma"/>
                <a:cs typeface="Tahoma"/>
              </a:rPr>
              <a:t>chegam</a:t>
            </a:r>
            <a:r>
              <a:rPr sz="1000" spc="2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prontas</a:t>
            </a:r>
            <a:r>
              <a:rPr sz="1000" spc="25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para</a:t>
            </a:r>
            <a:r>
              <a:rPr sz="1000" spc="2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análise,</a:t>
            </a:r>
            <a:r>
              <a:rPr sz="1000" spc="2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sem</a:t>
            </a:r>
            <a:r>
              <a:rPr sz="1000" spc="2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ruídos</a:t>
            </a:r>
            <a:r>
              <a:rPr sz="1000" spc="2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ou sobrecarga.</a:t>
            </a:r>
            <a:r>
              <a:rPr sz="1000" spc="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Isso</a:t>
            </a:r>
            <a:r>
              <a:rPr sz="1000" spc="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acelerou</a:t>
            </a:r>
            <a:r>
              <a:rPr sz="1000" spc="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000" spc="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manutenção</a:t>
            </a:r>
            <a:r>
              <a:rPr sz="1000" spc="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preditiva</a:t>
            </a:r>
            <a:r>
              <a:rPr sz="1000" spc="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sz="1000" spc="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sz="1000" spc="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acompanhamento</a:t>
            </a:r>
            <a:r>
              <a:rPr sz="1000" spc="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sz="1000" spc="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performance,</a:t>
            </a:r>
            <a:r>
              <a:rPr sz="1000" spc="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sem</a:t>
            </a:r>
            <a:r>
              <a:rPr sz="1000" spc="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60" dirty="0">
                <a:solidFill>
                  <a:srgbClr val="212121"/>
                </a:solidFill>
                <a:latin typeface="Tahoma"/>
                <a:cs typeface="Tahoma"/>
              </a:rPr>
              <a:t>depender</a:t>
            </a:r>
            <a:r>
              <a:rPr sz="1000" spc="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de </a:t>
            </a:r>
            <a:r>
              <a:rPr sz="1000" spc="-10" dirty="0">
                <a:solidFill>
                  <a:srgbClr val="212121"/>
                </a:solidFill>
                <a:latin typeface="Tahoma"/>
                <a:cs typeface="Tahoma"/>
              </a:rPr>
              <a:t>intermediários.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000">
              <a:latin typeface="Tahoma"/>
              <a:cs typeface="Tahoma"/>
            </a:endParaRPr>
          </a:p>
          <a:p>
            <a:pPr marL="12700" marR="5080" algn="just">
              <a:lnSpc>
                <a:spcPct val="131300"/>
              </a:lnSpc>
            </a:pP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sz="1000" spc="1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processamento</a:t>
            </a:r>
            <a:r>
              <a:rPr sz="1000" spc="1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inteligente</a:t>
            </a:r>
            <a:r>
              <a:rPr sz="1000" spc="1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na</a:t>
            </a:r>
            <a:r>
              <a:rPr sz="1000" spc="1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borda</a:t>
            </a:r>
            <a:r>
              <a:rPr sz="1000" spc="1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cortou</a:t>
            </a:r>
            <a:r>
              <a:rPr sz="1000" spc="1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o</a:t>
            </a:r>
            <a:r>
              <a:rPr sz="1000" spc="1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tráfego</a:t>
            </a:r>
            <a:r>
              <a:rPr sz="1000" spc="1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sz="1000" spc="1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60" dirty="0">
                <a:solidFill>
                  <a:srgbClr val="212121"/>
                </a:solidFill>
                <a:latin typeface="Tahoma"/>
                <a:cs typeface="Tahoma"/>
              </a:rPr>
              <a:t>dados</a:t>
            </a:r>
            <a:r>
              <a:rPr sz="1000" spc="1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irrelevantes.</a:t>
            </a:r>
            <a:r>
              <a:rPr sz="1000" spc="1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Resultado:</a:t>
            </a:r>
            <a:r>
              <a:rPr sz="1000" spc="1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menor</a:t>
            </a:r>
            <a:r>
              <a:rPr sz="1000" spc="1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custo</a:t>
            </a:r>
            <a:r>
              <a:rPr sz="1000" spc="1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30" dirty="0">
                <a:solidFill>
                  <a:srgbClr val="212121"/>
                </a:solidFill>
                <a:latin typeface="Tahoma"/>
                <a:cs typeface="Tahoma"/>
              </a:rPr>
              <a:t>de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transporte,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 menos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 execuções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desnecessárias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na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nuvem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um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60" dirty="0">
                <a:solidFill>
                  <a:srgbClr val="212121"/>
                </a:solidFill>
                <a:latin typeface="Tahoma"/>
                <a:cs typeface="Tahoma"/>
              </a:rPr>
              <a:t>pipeline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mais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Tahoma"/>
                <a:cs typeface="Tahoma"/>
              </a:rPr>
              <a:t>enxuto.</a:t>
            </a:r>
            <a:endParaRPr sz="1000">
              <a:latin typeface="Tahoma"/>
              <a:cs typeface="Tahoma"/>
            </a:endParaRPr>
          </a:p>
          <a:p>
            <a:pPr marL="12700" algn="just">
              <a:lnSpc>
                <a:spcPct val="100000"/>
              </a:lnSpc>
              <a:spcBef>
                <a:spcPts val="375"/>
              </a:spcBef>
            </a:pPr>
            <a:r>
              <a:rPr sz="1000" spc="65" dirty="0">
                <a:solidFill>
                  <a:srgbClr val="212121"/>
                </a:solidFill>
                <a:latin typeface="Tahoma"/>
                <a:cs typeface="Tahoma"/>
              </a:rPr>
              <a:t>Menos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latência,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mais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60" dirty="0">
                <a:solidFill>
                  <a:srgbClr val="212121"/>
                </a:solidFill>
                <a:latin typeface="Tahoma"/>
                <a:cs typeface="Tahoma"/>
              </a:rPr>
              <a:t>decisões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tempo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212121"/>
                </a:solidFill>
                <a:latin typeface="Tahoma"/>
                <a:cs typeface="Tahoma"/>
              </a:rPr>
              <a:t>real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9662" y="729641"/>
            <a:ext cx="62141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65" dirty="0">
                <a:solidFill>
                  <a:srgbClr val="212121"/>
                </a:solidFill>
                <a:latin typeface="Tahoma"/>
                <a:cs typeface="Tahoma"/>
              </a:rPr>
              <a:t>ARQUITETURA</a:t>
            </a:r>
            <a:r>
              <a:rPr sz="1600" b="1" spc="-1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600" b="1" spc="-80" dirty="0">
                <a:solidFill>
                  <a:srgbClr val="212121"/>
                </a:solidFill>
                <a:latin typeface="Tahoma"/>
                <a:cs typeface="Tahoma"/>
              </a:rPr>
              <a:t>FLUIDA:</a:t>
            </a:r>
            <a:r>
              <a:rPr sz="1600" b="1" spc="-1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600" b="1" spc="-30" dirty="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sz="1600" b="1" spc="-1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600" b="1" spc="-55" dirty="0">
                <a:solidFill>
                  <a:srgbClr val="212121"/>
                </a:solidFill>
                <a:latin typeface="Tahoma"/>
                <a:cs typeface="Tahoma"/>
              </a:rPr>
              <a:t>FÁBRICA</a:t>
            </a:r>
            <a:r>
              <a:rPr sz="1600" b="1" spc="-1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212121"/>
                </a:solidFill>
                <a:latin typeface="Tahoma"/>
                <a:cs typeface="Tahoma"/>
              </a:rPr>
              <a:t>À</a:t>
            </a:r>
            <a:r>
              <a:rPr sz="1600" b="1" spc="-1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600" b="1" spc="-20" dirty="0">
                <a:solidFill>
                  <a:srgbClr val="212121"/>
                </a:solidFill>
                <a:latin typeface="Tahoma"/>
                <a:cs typeface="Tahoma"/>
              </a:rPr>
              <a:t>NUVEM,</a:t>
            </a:r>
            <a:r>
              <a:rPr sz="1600" b="1" spc="-1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212121"/>
                </a:solidFill>
                <a:latin typeface="Tahoma"/>
                <a:cs typeface="Tahoma"/>
              </a:rPr>
              <a:t>SEM</a:t>
            </a:r>
            <a:r>
              <a:rPr sz="1600" b="1" spc="-1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212121"/>
                </a:solidFill>
                <a:latin typeface="Tahoma"/>
                <a:cs typeface="Tahoma"/>
              </a:rPr>
              <a:t>GARGALOS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7123" y="10226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123" y="350616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812030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3295539"/>
            <a:ext cx="162581" cy="1004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662" y="3212547"/>
            <a:ext cx="6654165" cy="155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400" b="1" spc="-45" dirty="0">
                <a:solidFill>
                  <a:srgbClr val="212121"/>
                </a:solidFill>
                <a:latin typeface="Tahoma"/>
                <a:cs typeface="Tahoma"/>
              </a:rPr>
              <a:t>AUTONOMIA</a:t>
            </a:r>
            <a:r>
              <a:rPr sz="1400" b="1" spc="-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sz="1400" b="1" spc="-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12121"/>
                </a:solidFill>
                <a:latin typeface="Tahoma"/>
                <a:cs typeface="Tahoma"/>
              </a:rPr>
              <a:t>ESCALABILIDADE</a:t>
            </a:r>
            <a:endParaRPr sz="1400" dirty="0">
              <a:latin typeface="Tahoma"/>
              <a:cs typeface="Tahoma"/>
            </a:endParaRPr>
          </a:p>
          <a:p>
            <a:pPr marL="12700" marR="5080" algn="just">
              <a:lnSpc>
                <a:spcPct val="131300"/>
              </a:lnSpc>
              <a:spcBef>
                <a:spcPts val="880"/>
              </a:spcBef>
            </a:pP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Os</a:t>
            </a:r>
            <a:r>
              <a:rPr sz="1000" spc="3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times</a:t>
            </a:r>
            <a:r>
              <a:rPr sz="1000" spc="3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internos</a:t>
            </a:r>
            <a:r>
              <a:rPr sz="1000" spc="3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ganharam</a:t>
            </a:r>
            <a:r>
              <a:rPr sz="1000" spc="3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mais</a:t>
            </a:r>
            <a:r>
              <a:rPr sz="1000" spc="3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autonomia.</a:t>
            </a:r>
            <a:r>
              <a:rPr sz="1000" spc="3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75" dirty="0">
                <a:solidFill>
                  <a:srgbClr val="212121"/>
                </a:solidFill>
                <a:latin typeface="Tahoma"/>
                <a:cs typeface="Tahoma"/>
              </a:rPr>
              <a:t>Com</a:t>
            </a:r>
            <a:r>
              <a:rPr sz="1000" spc="3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60" dirty="0">
                <a:solidFill>
                  <a:srgbClr val="212121"/>
                </a:solidFill>
                <a:latin typeface="Tahoma"/>
                <a:cs typeface="Tahoma"/>
              </a:rPr>
              <a:t>dados</a:t>
            </a:r>
            <a:r>
              <a:rPr sz="1000" spc="3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mestres</a:t>
            </a:r>
            <a:r>
              <a:rPr sz="1000" spc="3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no</a:t>
            </a:r>
            <a:r>
              <a:rPr sz="1000" spc="3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60" dirty="0">
                <a:solidFill>
                  <a:srgbClr val="212121"/>
                </a:solidFill>
                <a:latin typeface="Tahoma"/>
                <a:cs typeface="Tahoma"/>
              </a:rPr>
              <a:t>SQL</a:t>
            </a:r>
            <a:r>
              <a:rPr sz="1000" spc="3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Server</a:t>
            </a:r>
            <a:r>
              <a:rPr sz="1000" spc="3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sz="1000" spc="3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acesso</a:t>
            </a:r>
            <a:r>
              <a:rPr sz="1000" spc="3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via</a:t>
            </a:r>
            <a:r>
              <a:rPr sz="1000" spc="3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Tahoma"/>
                <a:cs typeface="Tahoma"/>
              </a:rPr>
              <a:t>Excel,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engenheiros</a:t>
            </a:r>
            <a:r>
              <a:rPr sz="1000" spc="3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consultam</a:t>
            </a:r>
            <a:r>
              <a:rPr sz="1000" spc="3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sz="1000" spc="3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atualizam</a:t>
            </a:r>
            <a:r>
              <a:rPr sz="1000" spc="3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informações</a:t>
            </a:r>
            <a:r>
              <a:rPr sz="1000" spc="3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sem</a:t>
            </a:r>
            <a:r>
              <a:rPr sz="1000" spc="3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60" dirty="0">
                <a:solidFill>
                  <a:srgbClr val="212121"/>
                </a:solidFill>
                <a:latin typeface="Tahoma"/>
                <a:cs typeface="Tahoma"/>
              </a:rPr>
              <a:t>depender</a:t>
            </a:r>
            <a:r>
              <a:rPr sz="1000" spc="3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de</a:t>
            </a:r>
            <a:r>
              <a:rPr sz="1000" spc="3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sistemas</a:t>
            </a:r>
            <a:r>
              <a:rPr sz="1000" spc="3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60" dirty="0">
                <a:solidFill>
                  <a:srgbClr val="212121"/>
                </a:solidFill>
                <a:latin typeface="Tahoma"/>
                <a:cs typeface="Tahoma"/>
              </a:rPr>
              <a:t>legados</a:t>
            </a:r>
            <a:r>
              <a:rPr sz="1000" spc="3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ou</a:t>
            </a:r>
            <a:r>
              <a:rPr sz="1000" spc="3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40" dirty="0">
                <a:solidFill>
                  <a:srgbClr val="212121"/>
                </a:solidFill>
                <a:latin typeface="Tahoma"/>
                <a:cs typeface="Tahoma"/>
              </a:rPr>
              <a:t>especialistas </a:t>
            </a:r>
            <a:r>
              <a:rPr sz="1000" spc="-10" dirty="0">
                <a:solidFill>
                  <a:srgbClr val="212121"/>
                </a:solidFill>
                <a:latin typeface="Tahoma"/>
                <a:cs typeface="Tahoma"/>
              </a:rPr>
              <a:t>externos.</a:t>
            </a:r>
            <a:endParaRPr sz="1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000" dirty="0">
              <a:latin typeface="Tahoma"/>
              <a:cs typeface="Tahoma"/>
            </a:endParaRPr>
          </a:p>
          <a:p>
            <a:pPr marL="12700" marR="5080" algn="just">
              <a:lnSpc>
                <a:spcPct val="131300"/>
              </a:lnSpc>
              <a:spcBef>
                <a:spcPts val="5"/>
              </a:spcBef>
            </a:pPr>
            <a:r>
              <a:rPr sz="1000" spc="65" dirty="0">
                <a:solidFill>
                  <a:srgbClr val="212121"/>
                </a:solidFill>
                <a:latin typeface="Tahoma"/>
                <a:cs typeface="Tahoma"/>
              </a:rPr>
              <a:t>Tudo</a:t>
            </a:r>
            <a:r>
              <a:rPr sz="1000" spc="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isso</a:t>
            </a:r>
            <a:r>
              <a:rPr sz="1000" spc="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65" dirty="0">
                <a:solidFill>
                  <a:srgbClr val="212121"/>
                </a:solidFill>
                <a:latin typeface="Tahoma"/>
                <a:cs typeface="Tahoma"/>
              </a:rPr>
              <a:t>com</a:t>
            </a:r>
            <a:r>
              <a:rPr sz="1000" spc="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uma</a:t>
            </a:r>
            <a:r>
              <a:rPr sz="1000" spc="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arquitetura</a:t>
            </a:r>
            <a:r>
              <a:rPr sz="1000" spc="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elástica,</a:t>
            </a:r>
            <a:r>
              <a:rPr sz="1000" spc="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baseada</a:t>
            </a:r>
            <a:r>
              <a:rPr sz="1000" spc="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em</a:t>
            </a:r>
            <a:r>
              <a:rPr sz="1000" spc="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serviços</a:t>
            </a:r>
            <a:r>
              <a:rPr sz="1000" spc="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serverless</a:t>
            </a:r>
            <a:r>
              <a:rPr sz="1000" spc="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sz="1000" spc="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AWS,</a:t>
            </a:r>
            <a:r>
              <a:rPr sz="1000" spc="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000" spc="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60" dirty="0">
                <a:solidFill>
                  <a:srgbClr val="212121"/>
                </a:solidFill>
                <a:latin typeface="Tahoma"/>
                <a:cs typeface="Tahoma"/>
              </a:rPr>
              <a:t>acompanha</a:t>
            </a:r>
            <a:r>
              <a:rPr sz="1000" spc="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e</a:t>
            </a:r>
            <a:r>
              <a:rPr sz="1000" spc="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35" dirty="0">
                <a:solidFill>
                  <a:srgbClr val="212121"/>
                </a:solidFill>
                <a:latin typeface="Tahoma"/>
                <a:cs typeface="Tahoma"/>
              </a:rPr>
              <a:t>suporta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o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crescimento</a:t>
            </a:r>
            <a:r>
              <a:rPr sz="1000" spc="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60" dirty="0">
                <a:solidFill>
                  <a:srgbClr val="212121"/>
                </a:solidFill>
                <a:latin typeface="Tahoma"/>
                <a:cs typeface="Tahoma"/>
              </a:rPr>
              <a:t>contínuo</a:t>
            </a:r>
            <a:r>
              <a:rPr sz="1000" spc="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212121"/>
                </a:solidFill>
                <a:latin typeface="Tahoma"/>
                <a:cs typeface="Tahoma"/>
              </a:rPr>
              <a:t>da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35" dirty="0">
                <a:solidFill>
                  <a:srgbClr val="212121"/>
                </a:solidFill>
                <a:latin typeface="Tahoma"/>
                <a:cs typeface="Tahoma"/>
              </a:rPr>
              <a:t>operação.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9662" y="729038"/>
            <a:ext cx="2909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solidFill>
                  <a:srgbClr val="212121"/>
                </a:solidFill>
                <a:latin typeface="Tahoma"/>
                <a:cs typeface="Tahoma"/>
              </a:rPr>
              <a:t>PARCERIA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FAZ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12121"/>
                </a:solidFill>
                <a:latin typeface="Tahoma"/>
                <a:cs typeface="Tahoma"/>
              </a:rPr>
              <a:t>DIFERENÇA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2359" y="1132072"/>
            <a:ext cx="6632575" cy="1889125"/>
            <a:chOff x="422359" y="1132072"/>
            <a:chExt cx="6632575" cy="1889125"/>
          </a:xfrm>
        </p:grpSpPr>
        <p:sp>
          <p:nvSpPr>
            <p:cNvPr id="11" name="object 11"/>
            <p:cNvSpPr/>
            <p:nvPr/>
          </p:nvSpPr>
          <p:spPr>
            <a:xfrm>
              <a:off x="422359" y="1132229"/>
              <a:ext cx="6631940" cy="1888489"/>
            </a:xfrm>
            <a:custGeom>
              <a:avLst/>
              <a:gdLst/>
              <a:ahLst/>
              <a:cxnLst/>
              <a:rect l="l" t="t" r="r" b="b"/>
              <a:pathLst>
                <a:path w="6631940" h="1888489">
                  <a:moveTo>
                    <a:pt x="6280885" y="1888407"/>
                  </a:moveTo>
                  <a:lnTo>
                    <a:pt x="352557" y="1888407"/>
                  </a:lnTo>
                  <a:lnTo>
                    <a:pt x="306216" y="1885349"/>
                  </a:lnTo>
                  <a:lnTo>
                    <a:pt x="261060" y="1876328"/>
                  </a:lnTo>
                  <a:lnTo>
                    <a:pt x="217639" y="1861570"/>
                  </a:lnTo>
                  <a:lnTo>
                    <a:pt x="176500" y="1841302"/>
                  </a:lnTo>
                  <a:lnTo>
                    <a:pt x="138192" y="1815752"/>
                  </a:lnTo>
                  <a:lnTo>
                    <a:pt x="103261" y="1785145"/>
                  </a:lnTo>
                  <a:lnTo>
                    <a:pt x="72655" y="1750215"/>
                  </a:lnTo>
                  <a:lnTo>
                    <a:pt x="47104" y="1711906"/>
                  </a:lnTo>
                  <a:lnTo>
                    <a:pt x="26836" y="1670767"/>
                  </a:lnTo>
                  <a:lnTo>
                    <a:pt x="12078" y="1627346"/>
                  </a:lnTo>
                  <a:lnTo>
                    <a:pt x="3057" y="1582191"/>
                  </a:lnTo>
                  <a:lnTo>
                    <a:pt x="0" y="1535849"/>
                  </a:lnTo>
                  <a:lnTo>
                    <a:pt x="0" y="352557"/>
                  </a:lnTo>
                  <a:lnTo>
                    <a:pt x="3057" y="306216"/>
                  </a:lnTo>
                  <a:lnTo>
                    <a:pt x="12078" y="261060"/>
                  </a:lnTo>
                  <a:lnTo>
                    <a:pt x="26836" y="217639"/>
                  </a:lnTo>
                  <a:lnTo>
                    <a:pt x="47104" y="176500"/>
                  </a:lnTo>
                  <a:lnTo>
                    <a:pt x="72655" y="138192"/>
                  </a:lnTo>
                  <a:lnTo>
                    <a:pt x="103261" y="103261"/>
                  </a:lnTo>
                  <a:lnTo>
                    <a:pt x="138192" y="72655"/>
                  </a:lnTo>
                  <a:lnTo>
                    <a:pt x="176500" y="47104"/>
                  </a:lnTo>
                  <a:lnTo>
                    <a:pt x="217639" y="26836"/>
                  </a:lnTo>
                  <a:lnTo>
                    <a:pt x="261060" y="12078"/>
                  </a:lnTo>
                  <a:lnTo>
                    <a:pt x="306216" y="3057"/>
                  </a:lnTo>
                  <a:lnTo>
                    <a:pt x="352557" y="0"/>
                  </a:lnTo>
                  <a:lnTo>
                    <a:pt x="6280885" y="0"/>
                  </a:lnTo>
                  <a:lnTo>
                    <a:pt x="6327226" y="3057"/>
                  </a:lnTo>
                  <a:lnTo>
                    <a:pt x="6372382" y="12078"/>
                  </a:lnTo>
                  <a:lnTo>
                    <a:pt x="6415803" y="26836"/>
                  </a:lnTo>
                  <a:lnTo>
                    <a:pt x="6456941" y="47104"/>
                  </a:lnTo>
                  <a:lnTo>
                    <a:pt x="6495250" y="72655"/>
                  </a:lnTo>
                  <a:lnTo>
                    <a:pt x="6530181" y="103261"/>
                  </a:lnTo>
                  <a:lnTo>
                    <a:pt x="6560787" y="138192"/>
                  </a:lnTo>
                  <a:lnTo>
                    <a:pt x="6586338" y="176500"/>
                  </a:lnTo>
                  <a:lnTo>
                    <a:pt x="6606606" y="217639"/>
                  </a:lnTo>
                  <a:lnTo>
                    <a:pt x="6621364" y="261060"/>
                  </a:lnTo>
                  <a:lnTo>
                    <a:pt x="6630385" y="306216"/>
                  </a:lnTo>
                  <a:lnTo>
                    <a:pt x="6631555" y="323950"/>
                  </a:lnTo>
                  <a:lnTo>
                    <a:pt x="6631555" y="1564457"/>
                  </a:lnTo>
                  <a:lnTo>
                    <a:pt x="6621364" y="1627346"/>
                  </a:lnTo>
                  <a:lnTo>
                    <a:pt x="6606606" y="1670767"/>
                  </a:lnTo>
                  <a:lnTo>
                    <a:pt x="6586338" y="1711906"/>
                  </a:lnTo>
                  <a:lnTo>
                    <a:pt x="6560787" y="1750215"/>
                  </a:lnTo>
                  <a:lnTo>
                    <a:pt x="6530181" y="1785145"/>
                  </a:lnTo>
                  <a:lnTo>
                    <a:pt x="6495250" y="1815752"/>
                  </a:lnTo>
                  <a:lnTo>
                    <a:pt x="6456941" y="1841302"/>
                  </a:lnTo>
                  <a:lnTo>
                    <a:pt x="6415803" y="1861570"/>
                  </a:lnTo>
                  <a:lnTo>
                    <a:pt x="6372382" y="1876328"/>
                  </a:lnTo>
                  <a:lnTo>
                    <a:pt x="6327226" y="1885349"/>
                  </a:lnTo>
                  <a:lnTo>
                    <a:pt x="6280885" y="1888407"/>
                  </a:lnTo>
                  <a:close/>
                </a:path>
              </a:pathLst>
            </a:custGeom>
            <a:solidFill>
              <a:srgbClr val="EB7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519" y="1132076"/>
              <a:ext cx="6631305" cy="1889125"/>
            </a:xfrm>
            <a:custGeom>
              <a:avLst/>
              <a:gdLst/>
              <a:ahLst/>
              <a:cxnLst/>
              <a:rect l="l" t="t" r="r" b="b"/>
              <a:pathLst>
                <a:path w="6631305" h="1889125">
                  <a:moveTo>
                    <a:pt x="956538" y="0"/>
                  </a:moveTo>
                  <a:lnTo>
                    <a:pt x="895019" y="2324"/>
                  </a:lnTo>
                  <a:lnTo>
                    <a:pt x="835634" y="6477"/>
                  </a:lnTo>
                  <a:lnTo>
                    <a:pt x="778383" y="12484"/>
                  </a:lnTo>
                  <a:lnTo>
                    <a:pt x="723252" y="20320"/>
                  </a:lnTo>
                  <a:lnTo>
                    <a:pt x="670255" y="29997"/>
                  </a:lnTo>
                  <a:lnTo>
                    <a:pt x="619391" y="41503"/>
                  </a:lnTo>
                  <a:lnTo>
                    <a:pt x="570661" y="54864"/>
                  </a:lnTo>
                  <a:lnTo>
                    <a:pt x="524052" y="70053"/>
                  </a:lnTo>
                  <a:lnTo>
                    <a:pt x="479577" y="87096"/>
                  </a:lnTo>
                  <a:lnTo>
                    <a:pt x="437235" y="105968"/>
                  </a:lnTo>
                  <a:lnTo>
                    <a:pt x="397027" y="126682"/>
                  </a:lnTo>
                  <a:lnTo>
                    <a:pt x="358940" y="149225"/>
                  </a:lnTo>
                  <a:lnTo>
                    <a:pt x="322999" y="173621"/>
                  </a:lnTo>
                  <a:lnTo>
                    <a:pt x="289179" y="199847"/>
                  </a:lnTo>
                  <a:lnTo>
                    <a:pt x="257479" y="227914"/>
                  </a:lnTo>
                  <a:lnTo>
                    <a:pt x="227926" y="257822"/>
                  </a:lnTo>
                  <a:lnTo>
                    <a:pt x="201904" y="287807"/>
                  </a:lnTo>
                  <a:lnTo>
                    <a:pt x="177469" y="319722"/>
                  </a:lnTo>
                  <a:lnTo>
                    <a:pt x="154597" y="353593"/>
                  </a:lnTo>
                  <a:lnTo>
                    <a:pt x="133299" y="389394"/>
                  </a:lnTo>
                  <a:lnTo>
                    <a:pt x="113588" y="427126"/>
                  </a:lnTo>
                  <a:lnTo>
                    <a:pt x="95453" y="466801"/>
                  </a:lnTo>
                  <a:lnTo>
                    <a:pt x="78892" y="508431"/>
                  </a:lnTo>
                  <a:lnTo>
                    <a:pt x="63906" y="551980"/>
                  </a:lnTo>
                  <a:lnTo>
                    <a:pt x="50495" y="597484"/>
                  </a:lnTo>
                  <a:lnTo>
                    <a:pt x="38658" y="644918"/>
                  </a:lnTo>
                  <a:lnTo>
                    <a:pt x="28409" y="694296"/>
                  </a:lnTo>
                  <a:lnTo>
                    <a:pt x="19723" y="745604"/>
                  </a:lnTo>
                  <a:lnTo>
                    <a:pt x="12623" y="798855"/>
                  </a:lnTo>
                  <a:lnTo>
                    <a:pt x="7112" y="854049"/>
                  </a:lnTo>
                  <a:lnTo>
                    <a:pt x="3162" y="911186"/>
                  </a:lnTo>
                  <a:lnTo>
                    <a:pt x="800" y="970254"/>
                  </a:lnTo>
                  <a:lnTo>
                    <a:pt x="0" y="1031265"/>
                  </a:lnTo>
                  <a:lnTo>
                    <a:pt x="0" y="1888185"/>
                  </a:lnTo>
                  <a:lnTo>
                    <a:pt x="956538" y="1888185"/>
                  </a:lnTo>
                  <a:lnTo>
                    <a:pt x="956538" y="978954"/>
                  </a:lnTo>
                  <a:lnTo>
                    <a:pt x="635203" y="978954"/>
                  </a:lnTo>
                  <a:lnTo>
                    <a:pt x="635203" y="922909"/>
                  </a:lnTo>
                  <a:lnTo>
                    <a:pt x="637286" y="866800"/>
                  </a:lnTo>
                  <a:lnTo>
                    <a:pt x="643509" y="815568"/>
                  </a:lnTo>
                  <a:lnTo>
                    <a:pt x="653897" y="769213"/>
                  </a:lnTo>
                  <a:lnTo>
                    <a:pt x="668426" y="727760"/>
                  </a:lnTo>
                  <a:lnTo>
                    <a:pt x="687108" y="691184"/>
                  </a:lnTo>
                  <a:lnTo>
                    <a:pt x="709942" y="659485"/>
                  </a:lnTo>
                  <a:lnTo>
                    <a:pt x="737565" y="632028"/>
                  </a:lnTo>
                  <a:lnTo>
                    <a:pt x="770585" y="608203"/>
                  </a:lnTo>
                  <a:lnTo>
                    <a:pt x="808990" y="588022"/>
                  </a:lnTo>
                  <a:lnTo>
                    <a:pt x="852779" y="571474"/>
                  </a:lnTo>
                  <a:lnTo>
                    <a:pt x="901966" y="558546"/>
                  </a:lnTo>
                  <a:lnTo>
                    <a:pt x="956538" y="549249"/>
                  </a:lnTo>
                  <a:lnTo>
                    <a:pt x="956538" y="0"/>
                  </a:lnTo>
                  <a:close/>
                </a:path>
                <a:path w="6631305" h="1889125">
                  <a:moveTo>
                    <a:pt x="2006561" y="0"/>
                  </a:moveTo>
                  <a:lnTo>
                    <a:pt x="1945043" y="2324"/>
                  </a:lnTo>
                  <a:lnTo>
                    <a:pt x="1885657" y="6477"/>
                  </a:lnTo>
                  <a:lnTo>
                    <a:pt x="1828393" y="12484"/>
                  </a:lnTo>
                  <a:lnTo>
                    <a:pt x="1773275" y="20320"/>
                  </a:lnTo>
                  <a:lnTo>
                    <a:pt x="1720278" y="29997"/>
                  </a:lnTo>
                  <a:lnTo>
                    <a:pt x="1669415" y="41503"/>
                  </a:lnTo>
                  <a:lnTo>
                    <a:pt x="1620672" y="54864"/>
                  </a:lnTo>
                  <a:lnTo>
                    <a:pt x="1574076" y="70053"/>
                  </a:lnTo>
                  <a:lnTo>
                    <a:pt x="1529600" y="87096"/>
                  </a:lnTo>
                  <a:lnTo>
                    <a:pt x="1487258" y="105968"/>
                  </a:lnTo>
                  <a:lnTo>
                    <a:pt x="1447050" y="126682"/>
                  </a:lnTo>
                  <a:lnTo>
                    <a:pt x="1408963" y="149225"/>
                  </a:lnTo>
                  <a:lnTo>
                    <a:pt x="1373022" y="173621"/>
                  </a:lnTo>
                  <a:lnTo>
                    <a:pt x="1339202" y="199847"/>
                  </a:lnTo>
                  <a:lnTo>
                    <a:pt x="1307503" y="227914"/>
                  </a:lnTo>
                  <a:lnTo>
                    <a:pt x="1277950" y="257822"/>
                  </a:lnTo>
                  <a:lnTo>
                    <a:pt x="1251927" y="287807"/>
                  </a:lnTo>
                  <a:lnTo>
                    <a:pt x="1227493" y="319722"/>
                  </a:lnTo>
                  <a:lnTo>
                    <a:pt x="1204620" y="353593"/>
                  </a:lnTo>
                  <a:lnTo>
                    <a:pt x="1183322" y="389394"/>
                  </a:lnTo>
                  <a:lnTo>
                    <a:pt x="1163612" y="427126"/>
                  </a:lnTo>
                  <a:lnTo>
                    <a:pt x="1145476" y="466801"/>
                  </a:lnTo>
                  <a:lnTo>
                    <a:pt x="1128915" y="508431"/>
                  </a:lnTo>
                  <a:lnTo>
                    <a:pt x="1113929" y="551980"/>
                  </a:lnTo>
                  <a:lnTo>
                    <a:pt x="1100518" y="597484"/>
                  </a:lnTo>
                  <a:lnTo>
                    <a:pt x="1088682" y="644918"/>
                  </a:lnTo>
                  <a:lnTo>
                    <a:pt x="1078433" y="694296"/>
                  </a:lnTo>
                  <a:lnTo>
                    <a:pt x="1069759" y="745604"/>
                  </a:lnTo>
                  <a:lnTo>
                    <a:pt x="1062647" y="798855"/>
                  </a:lnTo>
                  <a:lnTo>
                    <a:pt x="1057135" y="854049"/>
                  </a:lnTo>
                  <a:lnTo>
                    <a:pt x="1053185" y="911186"/>
                  </a:lnTo>
                  <a:lnTo>
                    <a:pt x="1050823" y="970254"/>
                  </a:lnTo>
                  <a:lnTo>
                    <a:pt x="1050023" y="1031265"/>
                  </a:lnTo>
                  <a:lnTo>
                    <a:pt x="1050023" y="1888185"/>
                  </a:lnTo>
                  <a:lnTo>
                    <a:pt x="2006561" y="1888185"/>
                  </a:lnTo>
                  <a:lnTo>
                    <a:pt x="2006561" y="978954"/>
                  </a:lnTo>
                  <a:lnTo>
                    <a:pt x="1685239" y="978954"/>
                  </a:lnTo>
                  <a:lnTo>
                    <a:pt x="1685239" y="922909"/>
                  </a:lnTo>
                  <a:lnTo>
                    <a:pt x="1687309" y="866800"/>
                  </a:lnTo>
                  <a:lnTo>
                    <a:pt x="1693532" y="815568"/>
                  </a:lnTo>
                  <a:lnTo>
                    <a:pt x="1703920" y="769213"/>
                  </a:lnTo>
                  <a:lnTo>
                    <a:pt x="1718449" y="727760"/>
                  </a:lnTo>
                  <a:lnTo>
                    <a:pt x="1737118" y="691184"/>
                  </a:lnTo>
                  <a:lnTo>
                    <a:pt x="1759940" y="659485"/>
                  </a:lnTo>
                  <a:lnTo>
                    <a:pt x="1787575" y="632028"/>
                  </a:lnTo>
                  <a:lnTo>
                    <a:pt x="1820583" y="608203"/>
                  </a:lnTo>
                  <a:lnTo>
                    <a:pt x="1859000" y="588022"/>
                  </a:lnTo>
                  <a:lnTo>
                    <a:pt x="1902790" y="571474"/>
                  </a:lnTo>
                  <a:lnTo>
                    <a:pt x="1951977" y="558546"/>
                  </a:lnTo>
                  <a:lnTo>
                    <a:pt x="2006561" y="549249"/>
                  </a:lnTo>
                  <a:lnTo>
                    <a:pt x="2006561" y="0"/>
                  </a:lnTo>
                  <a:close/>
                </a:path>
                <a:path w="6631305" h="1889125">
                  <a:moveTo>
                    <a:pt x="5581027" y="431"/>
                  </a:moveTo>
                  <a:lnTo>
                    <a:pt x="4624502" y="431"/>
                  </a:lnTo>
                  <a:lnTo>
                    <a:pt x="4624502" y="909662"/>
                  </a:lnTo>
                  <a:lnTo>
                    <a:pt x="4945824" y="909662"/>
                  </a:lnTo>
                  <a:lnTo>
                    <a:pt x="4945824" y="965695"/>
                  </a:lnTo>
                  <a:lnTo>
                    <a:pt x="4943754" y="1021816"/>
                  </a:lnTo>
                  <a:lnTo>
                    <a:pt x="4937531" y="1073048"/>
                  </a:lnTo>
                  <a:lnTo>
                    <a:pt x="4927143" y="1119390"/>
                  </a:lnTo>
                  <a:lnTo>
                    <a:pt x="4912614" y="1160856"/>
                  </a:lnTo>
                  <a:lnTo>
                    <a:pt x="4893945" y="1197432"/>
                  </a:lnTo>
                  <a:lnTo>
                    <a:pt x="4871123" y="1229131"/>
                  </a:lnTo>
                  <a:lnTo>
                    <a:pt x="4843488" y="1256588"/>
                  </a:lnTo>
                  <a:lnTo>
                    <a:pt x="4810468" y="1280401"/>
                  </a:lnTo>
                  <a:lnTo>
                    <a:pt x="4772063" y="1300594"/>
                  </a:lnTo>
                  <a:lnTo>
                    <a:pt x="4728273" y="1317142"/>
                  </a:lnTo>
                  <a:lnTo>
                    <a:pt x="4679086" y="1330071"/>
                  </a:lnTo>
                  <a:lnTo>
                    <a:pt x="4624502" y="1339367"/>
                  </a:lnTo>
                  <a:lnTo>
                    <a:pt x="4624502" y="1888617"/>
                  </a:lnTo>
                  <a:lnTo>
                    <a:pt x="4686020" y="1886292"/>
                  </a:lnTo>
                  <a:lnTo>
                    <a:pt x="4745406" y="1882140"/>
                  </a:lnTo>
                  <a:lnTo>
                    <a:pt x="4802670" y="1876132"/>
                  </a:lnTo>
                  <a:lnTo>
                    <a:pt x="4857788" y="1868297"/>
                  </a:lnTo>
                  <a:lnTo>
                    <a:pt x="4910785" y="1858619"/>
                  </a:lnTo>
                  <a:lnTo>
                    <a:pt x="4961648" y="1847100"/>
                  </a:lnTo>
                  <a:lnTo>
                    <a:pt x="5010391" y="1833753"/>
                  </a:lnTo>
                  <a:lnTo>
                    <a:pt x="5056987" y="1818551"/>
                  </a:lnTo>
                  <a:lnTo>
                    <a:pt x="5101463" y="1801520"/>
                  </a:lnTo>
                  <a:lnTo>
                    <a:pt x="5143805" y="1782648"/>
                  </a:lnTo>
                  <a:lnTo>
                    <a:pt x="5184013" y="1761934"/>
                  </a:lnTo>
                  <a:lnTo>
                    <a:pt x="5222100" y="1739392"/>
                  </a:lnTo>
                  <a:lnTo>
                    <a:pt x="5258041" y="1714995"/>
                  </a:lnTo>
                  <a:lnTo>
                    <a:pt x="5291861" y="1688769"/>
                  </a:lnTo>
                  <a:lnTo>
                    <a:pt x="5323548" y="1660702"/>
                  </a:lnTo>
                  <a:lnTo>
                    <a:pt x="5353113" y="1630794"/>
                  </a:lnTo>
                  <a:lnTo>
                    <a:pt x="5379136" y="1600809"/>
                  </a:lnTo>
                  <a:lnTo>
                    <a:pt x="5403570" y="1568881"/>
                  </a:lnTo>
                  <a:lnTo>
                    <a:pt x="5426443" y="1535023"/>
                  </a:lnTo>
                  <a:lnTo>
                    <a:pt x="5447728" y="1499222"/>
                  </a:lnTo>
                  <a:lnTo>
                    <a:pt x="5467451" y="1461490"/>
                  </a:lnTo>
                  <a:lnTo>
                    <a:pt x="5485587" y="1421803"/>
                  </a:lnTo>
                  <a:lnTo>
                    <a:pt x="5502148" y="1380185"/>
                  </a:lnTo>
                  <a:lnTo>
                    <a:pt x="5517134" y="1336636"/>
                  </a:lnTo>
                  <a:lnTo>
                    <a:pt x="5530545" y="1291132"/>
                  </a:lnTo>
                  <a:lnTo>
                    <a:pt x="5542381" y="1243698"/>
                  </a:lnTo>
                  <a:lnTo>
                    <a:pt x="5552630" y="1194320"/>
                  </a:lnTo>
                  <a:lnTo>
                    <a:pt x="5561304" y="1143012"/>
                  </a:lnTo>
                  <a:lnTo>
                    <a:pt x="5568404" y="1089761"/>
                  </a:lnTo>
                  <a:lnTo>
                    <a:pt x="5573928" y="1034567"/>
                  </a:lnTo>
                  <a:lnTo>
                    <a:pt x="5577878" y="977430"/>
                  </a:lnTo>
                  <a:lnTo>
                    <a:pt x="5580240" y="918362"/>
                  </a:lnTo>
                  <a:lnTo>
                    <a:pt x="5581027" y="857351"/>
                  </a:lnTo>
                  <a:lnTo>
                    <a:pt x="5581027" y="431"/>
                  </a:lnTo>
                  <a:close/>
                </a:path>
                <a:path w="6631305" h="1889125">
                  <a:moveTo>
                    <a:pt x="6631051" y="431"/>
                  </a:moveTo>
                  <a:lnTo>
                    <a:pt x="5674525" y="431"/>
                  </a:lnTo>
                  <a:lnTo>
                    <a:pt x="5674525" y="909662"/>
                  </a:lnTo>
                  <a:lnTo>
                    <a:pt x="5995848" y="909662"/>
                  </a:lnTo>
                  <a:lnTo>
                    <a:pt x="5995848" y="965695"/>
                  </a:lnTo>
                  <a:lnTo>
                    <a:pt x="5993777" y="1021816"/>
                  </a:lnTo>
                  <a:lnTo>
                    <a:pt x="5987554" y="1073048"/>
                  </a:lnTo>
                  <a:lnTo>
                    <a:pt x="5977166" y="1119390"/>
                  </a:lnTo>
                  <a:lnTo>
                    <a:pt x="5962637" y="1160856"/>
                  </a:lnTo>
                  <a:lnTo>
                    <a:pt x="5943955" y="1197432"/>
                  </a:lnTo>
                  <a:lnTo>
                    <a:pt x="5921121" y="1229131"/>
                  </a:lnTo>
                  <a:lnTo>
                    <a:pt x="5893498" y="1256588"/>
                  </a:lnTo>
                  <a:lnTo>
                    <a:pt x="5860478" y="1280401"/>
                  </a:lnTo>
                  <a:lnTo>
                    <a:pt x="5822073" y="1300594"/>
                  </a:lnTo>
                  <a:lnTo>
                    <a:pt x="5778284" y="1317142"/>
                  </a:lnTo>
                  <a:lnTo>
                    <a:pt x="5729097" y="1330071"/>
                  </a:lnTo>
                  <a:lnTo>
                    <a:pt x="5674525" y="1339367"/>
                  </a:lnTo>
                  <a:lnTo>
                    <a:pt x="5674525" y="1888617"/>
                  </a:lnTo>
                  <a:lnTo>
                    <a:pt x="5736044" y="1886292"/>
                  </a:lnTo>
                  <a:lnTo>
                    <a:pt x="5795429" y="1882140"/>
                  </a:lnTo>
                  <a:lnTo>
                    <a:pt x="5852680" y="1876132"/>
                  </a:lnTo>
                  <a:lnTo>
                    <a:pt x="5907811" y="1868297"/>
                  </a:lnTo>
                  <a:lnTo>
                    <a:pt x="5960808" y="1858619"/>
                  </a:lnTo>
                  <a:lnTo>
                    <a:pt x="6011672" y="1847100"/>
                  </a:lnTo>
                  <a:lnTo>
                    <a:pt x="6060402" y="1833753"/>
                  </a:lnTo>
                  <a:lnTo>
                    <a:pt x="6107011" y="1818551"/>
                  </a:lnTo>
                  <a:lnTo>
                    <a:pt x="6151486" y="1801520"/>
                  </a:lnTo>
                  <a:lnTo>
                    <a:pt x="6193828" y="1782648"/>
                  </a:lnTo>
                  <a:lnTo>
                    <a:pt x="6234036" y="1761934"/>
                  </a:lnTo>
                  <a:lnTo>
                    <a:pt x="6272123" y="1739392"/>
                  </a:lnTo>
                  <a:lnTo>
                    <a:pt x="6308064" y="1714995"/>
                  </a:lnTo>
                  <a:lnTo>
                    <a:pt x="6341885" y="1688769"/>
                  </a:lnTo>
                  <a:lnTo>
                    <a:pt x="6373571" y="1660702"/>
                  </a:lnTo>
                  <a:lnTo>
                    <a:pt x="6403137" y="1630794"/>
                  </a:lnTo>
                  <a:lnTo>
                    <a:pt x="6429159" y="1600809"/>
                  </a:lnTo>
                  <a:lnTo>
                    <a:pt x="6453594" y="1568881"/>
                  </a:lnTo>
                  <a:lnTo>
                    <a:pt x="6476466" y="1535023"/>
                  </a:lnTo>
                  <a:lnTo>
                    <a:pt x="6497752" y="1499222"/>
                  </a:lnTo>
                  <a:lnTo>
                    <a:pt x="6517475" y="1461490"/>
                  </a:lnTo>
                  <a:lnTo>
                    <a:pt x="6535610" y="1421803"/>
                  </a:lnTo>
                  <a:lnTo>
                    <a:pt x="6552171" y="1380185"/>
                  </a:lnTo>
                  <a:lnTo>
                    <a:pt x="6567157" y="1336636"/>
                  </a:lnTo>
                  <a:lnTo>
                    <a:pt x="6580568" y="1291132"/>
                  </a:lnTo>
                  <a:lnTo>
                    <a:pt x="6592405" y="1243698"/>
                  </a:lnTo>
                  <a:lnTo>
                    <a:pt x="6602654" y="1194320"/>
                  </a:lnTo>
                  <a:lnTo>
                    <a:pt x="6611328" y="1143012"/>
                  </a:lnTo>
                  <a:lnTo>
                    <a:pt x="6618440" y="1089761"/>
                  </a:lnTo>
                  <a:lnTo>
                    <a:pt x="6623952" y="1034567"/>
                  </a:lnTo>
                  <a:lnTo>
                    <a:pt x="6627901" y="977430"/>
                  </a:lnTo>
                  <a:lnTo>
                    <a:pt x="6630263" y="918362"/>
                  </a:lnTo>
                  <a:lnTo>
                    <a:pt x="6631051" y="857351"/>
                  </a:lnTo>
                  <a:lnTo>
                    <a:pt x="6631051" y="431"/>
                  </a:lnTo>
                  <a:close/>
                </a:path>
              </a:pathLst>
            </a:custGeom>
            <a:solidFill>
              <a:srgbClr val="F685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3584" y="1446396"/>
            <a:ext cx="6069965" cy="127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700"/>
              </a:lnSpc>
              <a:spcBef>
                <a:spcPts val="100"/>
              </a:spcBef>
            </a:pPr>
            <a:r>
              <a:rPr sz="1100" spc="120" dirty="0">
                <a:solidFill>
                  <a:srgbClr val="FFFFFF"/>
                </a:solidFill>
                <a:latin typeface="Trebuchet MS"/>
                <a:cs typeface="Trebuchet MS"/>
              </a:rPr>
              <a:t>"A</a:t>
            </a:r>
            <a:r>
              <a:rPr sz="1100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90" dirty="0">
                <a:solidFill>
                  <a:srgbClr val="FFFFFF"/>
                </a:solidFill>
                <a:latin typeface="Trebuchet MS"/>
                <a:cs typeface="Trebuchet MS"/>
              </a:rPr>
              <a:t>DataRain</a:t>
            </a:r>
            <a:r>
              <a:rPr sz="1100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70" dirty="0">
                <a:solidFill>
                  <a:srgbClr val="FFFFFF"/>
                </a:solidFill>
                <a:latin typeface="Trebuchet MS"/>
                <a:cs typeface="Trebuchet MS"/>
              </a:rPr>
              <a:t>tem</a:t>
            </a:r>
            <a:r>
              <a:rPr sz="1100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85" dirty="0">
                <a:solidFill>
                  <a:srgbClr val="FFFFFF"/>
                </a:solidFill>
                <a:latin typeface="Trebuchet MS"/>
                <a:cs typeface="Trebuchet MS"/>
              </a:rPr>
              <a:t>sido</a:t>
            </a:r>
            <a:r>
              <a:rPr sz="1100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125" dirty="0">
                <a:solidFill>
                  <a:srgbClr val="FFFFFF"/>
                </a:solidFill>
                <a:latin typeface="Trebuchet MS"/>
                <a:cs typeface="Trebuchet MS"/>
              </a:rPr>
              <a:t>nossa</a:t>
            </a:r>
            <a:r>
              <a:rPr sz="1100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70" dirty="0">
                <a:solidFill>
                  <a:srgbClr val="FFFFFF"/>
                </a:solidFill>
                <a:latin typeface="Trebuchet MS"/>
                <a:cs typeface="Trebuchet MS"/>
              </a:rPr>
              <a:t>parceira</a:t>
            </a:r>
            <a:r>
              <a:rPr sz="1100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85" dirty="0">
                <a:solidFill>
                  <a:srgbClr val="FFFFFF"/>
                </a:solidFill>
                <a:latin typeface="Trebuchet MS"/>
                <a:cs typeface="Trebuchet MS"/>
              </a:rPr>
              <a:t>estratégica</a:t>
            </a:r>
            <a:r>
              <a:rPr sz="1100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90" dirty="0">
                <a:solidFill>
                  <a:srgbClr val="FFFFFF"/>
                </a:solidFill>
                <a:latin typeface="Trebuchet MS"/>
                <a:cs typeface="Trebuchet MS"/>
              </a:rPr>
              <a:t>há</a:t>
            </a:r>
            <a:r>
              <a:rPr sz="1100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105" dirty="0">
                <a:solidFill>
                  <a:srgbClr val="FFFFFF"/>
                </a:solidFill>
                <a:latin typeface="Trebuchet MS"/>
                <a:cs typeface="Trebuchet MS"/>
              </a:rPr>
              <a:t>alguns</a:t>
            </a:r>
            <a:r>
              <a:rPr sz="1100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110" dirty="0">
                <a:solidFill>
                  <a:srgbClr val="FFFFFF"/>
                </a:solidFill>
                <a:latin typeface="Trebuchet MS"/>
                <a:cs typeface="Trebuchet MS"/>
              </a:rPr>
              <a:t>anos</a:t>
            </a:r>
            <a:r>
              <a:rPr sz="1100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100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90" dirty="0">
                <a:solidFill>
                  <a:srgbClr val="FFFFFF"/>
                </a:solidFill>
                <a:latin typeface="Trebuchet MS"/>
                <a:cs typeface="Trebuchet MS"/>
              </a:rPr>
              <a:t>esteve</a:t>
            </a:r>
            <a:r>
              <a:rPr sz="1100" spc="75" dirty="0">
                <a:solidFill>
                  <a:srgbClr val="FFFFFF"/>
                </a:solidFill>
                <a:latin typeface="Trebuchet MS"/>
                <a:cs typeface="Trebuchet MS"/>
              </a:rPr>
              <a:t> ao </a:t>
            </a:r>
            <a:r>
              <a:rPr sz="1100" spc="114" dirty="0">
                <a:solidFill>
                  <a:srgbClr val="FFFFFF"/>
                </a:solidFill>
                <a:latin typeface="Trebuchet MS"/>
                <a:cs typeface="Trebuchet MS"/>
              </a:rPr>
              <a:t>nosso </a:t>
            </a:r>
            <a:r>
              <a:rPr sz="1100" spc="65" dirty="0">
                <a:solidFill>
                  <a:srgbClr val="FFFFFF"/>
                </a:solidFill>
                <a:latin typeface="Trebuchet MS"/>
                <a:cs typeface="Trebuchet MS"/>
              </a:rPr>
              <a:t>lado</a:t>
            </a:r>
            <a:r>
              <a:rPr sz="11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70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11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100" dirty="0">
                <a:solidFill>
                  <a:srgbClr val="FFFFFF"/>
                </a:solidFill>
                <a:latin typeface="Trebuchet MS"/>
                <a:cs typeface="Trebuchet MS"/>
              </a:rPr>
              <a:t>todos</a:t>
            </a:r>
            <a:r>
              <a:rPr sz="11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114" dirty="0">
                <a:solidFill>
                  <a:srgbClr val="FFFFFF"/>
                </a:solidFill>
                <a:latin typeface="Trebuchet MS"/>
                <a:cs typeface="Trebuchet MS"/>
              </a:rPr>
              <a:t>os</a:t>
            </a:r>
            <a:r>
              <a:rPr sz="11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75" dirty="0">
                <a:solidFill>
                  <a:srgbClr val="FFFFFF"/>
                </a:solidFill>
                <a:latin typeface="Trebuchet MS"/>
                <a:cs typeface="Trebuchet MS"/>
              </a:rPr>
              <a:t>projetos</a:t>
            </a:r>
            <a:r>
              <a:rPr sz="11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6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1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125" dirty="0">
                <a:solidFill>
                  <a:srgbClr val="FFFFFF"/>
                </a:solidFill>
                <a:latin typeface="Trebuchet MS"/>
                <a:cs typeface="Trebuchet MS"/>
              </a:rPr>
              <a:t>sucesso</a:t>
            </a:r>
            <a:r>
              <a:rPr sz="11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75" dirty="0">
                <a:solidFill>
                  <a:srgbClr val="FFFFFF"/>
                </a:solidFill>
                <a:latin typeface="Trebuchet MS"/>
                <a:cs typeface="Trebuchet MS"/>
              </a:rPr>
              <a:t>da</a:t>
            </a:r>
            <a:r>
              <a:rPr sz="11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70" dirty="0">
                <a:solidFill>
                  <a:srgbClr val="FFFFFF"/>
                </a:solidFill>
                <a:latin typeface="Trebuchet MS"/>
                <a:cs typeface="Trebuchet MS"/>
              </a:rPr>
              <a:t>jornada</a:t>
            </a:r>
            <a:r>
              <a:rPr sz="11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6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1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95" dirty="0">
                <a:solidFill>
                  <a:srgbClr val="FFFFFF"/>
                </a:solidFill>
                <a:latin typeface="Trebuchet MS"/>
                <a:cs typeface="Trebuchet MS"/>
              </a:rPr>
              <a:t>transformação</a:t>
            </a:r>
            <a:r>
              <a:rPr sz="11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6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1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105" dirty="0">
                <a:solidFill>
                  <a:srgbClr val="FFFFFF"/>
                </a:solidFill>
                <a:latin typeface="Trebuchet MS"/>
                <a:cs typeface="Trebuchet MS"/>
              </a:rPr>
              <a:t>dados</a:t>
            </a:r>
            <a:r>
              <a:rPr sz="11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75" dirty="0">
                <a:solidFill>
                  <a:srgbClr val="FFFFFF"/>
                </a:solidFill>
                <a:latin typeface="Trebuchet MS"/>
                <a:cs typeface="Trebuchet MS"/>
              </a:rPr>
              <a:t>da</a:t>
            </a:r>
            <a:r>
              <a:rPr sz="110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Trebuchet MS"/>
                <a:cs typeface="Trebuchet MS"/>
              </a:rPr>
              <a:t>PQ. </a:t>
            </a:r>
            <a:r>
              <a:rPr sz="1100" spc="85" dirty="0">
                <a:solidFill>
                  <a:srgbClr val="FFFFFF"/>
                </a:solidFill>
                <a:latin typeface="Trebuchet MS"/>
                <a:cs typeface="Trebuchet MS"/>
              </a:rPr>
              <a:t>Contribuindo</a:t>
            </a:r>
            <a:r>
              <a:rPr sz="1100" spc="48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95" dirty="0">
                <a:solidFill>
                  <a:srgbClr val="FFFFFF"/>
                </a:solidFill>
                <a:latin typeface="Trebuchet MS"/>
                <a:cs typeface="Trebuchet MS"/>
              </a:rPr>
              <a:t>com</a:t>
            </a:r>
            <a:r>
              <a:rPr sz="1100" spc="48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60" dirty="0">
                <a:solidFill>
                  <a:srgbClr val="FFFFFF"/>
                </a:solidFill>
                <a:latin typeface="Trebuchet MS"/>
                <a:cs typeface="Trebuchet MS"/>
              </a:rPr>
              <a:t>excelência,</a:t>
            </a:r>
            <a:r>
              <a:rPr sz="1100" spc="48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90" dirty="0">
                <a:solidFill>
                  <a:srgbClr val="FFFFFF"/>
                </a:solidFill>
                <a:latin typeface="Trebuchet MS"/>
                <a:cs typeface="Trebuchet MS"/>
              </a:rPr>
              <a:t>inovação</a:t>
            </a:r>
            <a:r>
              <a:rPr sz="1100" spc="4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100" spc="48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85" dirty="0">
                <a:solidFill>
                  <a:srgbClr val="FFFFFF"/>
                </a:solidFill>
                <a:latin typeface="Trebuchet MS"/>
                <a:cs typeface="Trebuchet MS"/>
              </a:rPr>
              <a:t>dedicação</a:t>
            </a:r>
            <a:r>
              <a:rPr sz="1100" spc="48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75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1100" spc="4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85" dirty="0">
                <a:solidFill>
                  <a:srgbClr val="FFFFFF"/>
                </a:solidFill>
                <a:latin typeface="Trebuchet MS"/>
                <a:cs typeface="Trebuchet MS"/>
              </a:rPr>
              <a:t>que</a:t>
            </a:r>
            <a:r>
              <a:rPr sz="1100" spc="48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90" dirty="0">
                <a:solidFill>
                  <a:srgbClr val="FFFFFF"/>
                </a:solidFill>
                <a:latin typeface="Trebuchet MS"/>
                <a:cs typeface="Trebuchet MS"/>
              </a:rPr>
              <a:t>cada</a:t>
            </a:r>
            <a:r>
              <a:rPr sz="1100" spc="48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75" dirty="0">
                <a:solidFill>
                  <a:srgbClr val="FFFFFF"/>
                </a:solidFill>
                <a:latin typeface="Trebuchet MS"/>
                <a:cs typeface="Trebuchet MS"/>
              </a:rPr>
              <a:t>etapa</a:t>
            </a:r>
            <a:r>
              <a:rPr sz="1100" spc="4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75" dirty="0">
                <a:solidFill>
                  <a:srgbClr val="FFFFFF"/>
                </a:solidFill>
                <a:latin typeface="Trebuchet MS"/>
                <a:cs typeface="Trebuchet MS"/>
              </a:rPr>
              <a:t>se </a:t>
            </a:r>
            <a:r>
              <a:rPr sz="1100" spc="105" dirty="0">
                <a:solidFill>
                  <a:srgbClr val="FFFFFF"/>
                </a:solidFill>
                <a:latin typeface="Trebuchet MS"/>
                <a:cs typeface="Trebuchet MS"/>
              </a:rPr>
              <a:t>tornasse</a:t>
            </a:r>
            <a:r>
              <a:rPr sz="110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45" dirty="0">
                <a:solidFill>
                  <a:srgbClr val="FFFFFF"/>
                </a:solidFill>
                <a:latin typeface="Trebuchet MS"/>
                <a:cs typeface="Trebuchet MS"/>
              </a:rPr>
              <a:t>realidade."</a:t>
            </a:r>
            <a:endParaRPr sz="11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100" dirty="0">
              <a:latin typeface="Trebuchet MS"/>
              <a:cs typeface="Trebuchet MS"/>
            </a:endParaRPr>
          </a:p>
          <a:p>
            <a:pPr marL="2929255">
              <a:lnSpc>
                <a:spcPct val="100000"/>
              </a:lnSpc>
            </a:pPr>
            <a:r>
              <a:rPr sz="1300" b="1" spc="14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300" b="1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spc="85" dirty="0">
                <a:solidFill>
                  <a:srgbClr val="FFFFFF"/>
                </a:solidFill>
                <a:latin typeface="Trebuchet MS"/>
                <a:cs typeface="Trebuchet MS"/>
              </a:rPr>
              <a:t>Adriana</a:t>
            </a:r>
            <a:r>
              <a:rPr sz="1300" b="1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spc="45" dirty="0">
                <a:solidFill>
                  <a:srgbClr val="FFFFFF"/>
                </a:solidFill>
                <a:latin typeface="Trebuchet MS"/>
                <a:cs typeface="Trebuchet MS"/>
              </a:rPr>
              <a:t>Andrioli,</a:t>
            </a:r>
            <a:r>
              <a:rPr sz="1300" b="1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sz="1300" b="1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spc="105" dirty="0">
                <a:solidFill>
                  <a:srgbClr val="FFFFFF"/>
                </a:solidFill>
                <a:latin typeface="Trebuchet MS"/>
                <a:cs typeface="Trebuchet MS"/>
              </a:rPr>
              <a:t>Manager</a:t>
            </a:r>
            <a:r>
              <a:rPr sz="1300" b="1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spc="85" dirty="0">
                <a:solidFill>
                  <a:srgbClr val="FFFFFF"/>
                </a:solidFill>
                <a:latin typeface="Trebuchet MS"/>
                <a:cs typeface="Trebuchet MS"/>
              </a:rPr>
              <a:t>at</a:t>
            </a:r>
            <a:r>
              <a:rPr sz="1300" b="1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spc="40" dirty="0">
                <a:solidFill>
                  <a:srgbClr val="FFFFFF"/>
                </a:solidFill>
                <a:latin typeface="Trebuchet MS"/>
                <a:cs typeface="Trebuchet MS"/>
              </a:rPr>
              <a:t>PQ</a:t>
            </a:r>
            <a:endParaRPr sz="13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755</Words>
  <Application>Microsoft Macintosh PowerPoint</Application>
  <PresentationFormat>Custom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PQ</dc:title>
  <dc:creator>Marketing dataRain</dc:creator>
  <cp:keywords>DAGwDfjSqkI,BAF8BeCTvrw,0</cp:keywords>
  <cp:lastModifiedBy>Pedro Guth</cp:lastModifiedBy>
  <cp:revision>1</cp:revision>
  <dcterms:created xsi:type="dcterms:W3CDTF">2026-02-16T02:43:00Z</dcterms:created>
  <dcterms:modified xsi:type="dcterms:W3CDTF">2026-02-16T02:44:09Z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2026-02-16T00:00:00Z</vt:filetime>
  </property>
  <property fmtid="{D5CDD505-2E9C-101B-9397-08002B2CF9AE}" pid="5" name="Producer">
    <vt:lpwstr>Canva</vt:lpwstr>
  </property>
</Properties>
</file>